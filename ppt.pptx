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Object Sans Bold" charset="1" panose="00000300000000000000"/>
      <p:regular r:id="rId18"/>
    </p:embeddedFont>
    <p:embeddedFont>
      <p:font typeface="Object Sans" charset="1" panose="000003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1093323" y="7670069"/>
            <a:ext cx="11166517" cy="1431069"/>
          </a:xfrm>
          <a:prstGeom prst="rect">
            <a:avLst/>
          </a:prstGeom>
        </p:spPr>
        <p:txBody>
          <a:bodyPr anchor="t" rtlCol="false" tIns="0" lIns="0" bIns="0" rIns="0">
            <a:spAutoFit/>
          </a:bodyPr>
          <a:lstStyle/>
          <a:p>
            <a:pPr algn="l">
              <a:lnSpc>
                <a:spcPts val="9702"/>
              </a:lnSpc>
            </a:pPr>
            <a:r>
              <a:rPr lang="en-US" b="true" sz="12600" spc="-1008">
                <a:solidFill>
                  <a:srgbClr val="292B2D"/>
                </a:solidFill>
                <a:latin typeface="Object Sans Bold"/>
                <a:ea typeface="Object Sans Bold"/>
                <a:cs typeface="Object Sans Bold"/>
                <a:sym typeface="Object Sans Bold"/>
              </a:rPr>
              <a:t>MONEY</a:t>
            </a:r>
          </a:p>
        </p:txBody>
      </p:sp>
      <p:sp>
        <p:nvSpPr>
          <p:cNvPr name="TextBox 3" id="3"/>
          <p:cNvSpPr txBox="true"/>
          <p:nvPr/>
        </p:nvSpPr>
        <p:spPr>
          <a:xfrm rot="0">
            <a:off x="1028700" y="6276785"/>
            <a:ext cx="11166517" cy="1676400"/>
          </a:xfrm>
          <a:prstGeom prst="rect">
            <a:avLst/>
          </a:prstGeom>
        </p:spPr>
        <p:txBody>
          <a:bodyPr anchor="t" rtlCol="false" tIns="0" lIns="0" bIns="0" rIns="0">
            <a:spAutoFit/>
          </a:bodyPr>
          <a:lstStyle/>
          <a:p>
            <a:pPr algn="l">
              <a:lnSpc>
                <a:spcPts val="11550"/>
              </a:lnSpc>
            </a:pPr>
            <a:r>
              <a:rPr lang="en-US" sz="15000" spc="-1200">
                <a:solidFill>
                  <a:srgbClr val="292B2D"/>
                </a:solidFill>
                <a:latin typeface="Object Sans"/>
                <a:ea typeface="Object Sans"/>
                <a:cs typeface="Object Sans"/>
                <a:sym typeface="Object Sans"/>
              </a:rPr>
              <a:t>SUBSPACE.</a:t>
            </a:r>
          </a:p>
        </p:txBody>
      </p:sp>
      <p:sp>
        <p:nvSpPr>
          <p:cNvPr name="TextBox 4" id="4"/>
          <p:cNvSpPr txBox="true"/>
          <p:nvPr/>
        </p:nvSpPr>
        <p:spPr>
          <a:xfrm rot="0">
            <a:off x="14654523" y="1325666"/>
            <a:ext cx="2604777" cy="283210"/>
          </a:xfrm>
          <a:prstGeom prst="rect">
            <a:avLst/>
          </a:prstGeom>
        </p:spPr>
        <p:txBody>
          <a:bodyPr anchor="t" rtlCol="false" tIns="0" lIns="0" bIns="0" rIns="0">
            <a:spAutoFit/>
          </a:bodyPr>
          <a:lstStyle/>
          <a:p>
            <a:pPr algn="l">
              <a:lnSpc>
                <a:spcPts val="2239"/>
              </a:lnSpc>
            </a:pPr>
            <a:r>
              <a:rPr lang="en-US" sz="1599">
                <a:solidFill>
                  <a:srgbClr val="292B2D"/>
                </a:solidFill>
                <a:latin typeface="Object Sans"/>
                <a:ea typeface="Object Sans"/>
                <a:cs typeface="Object Sans"/>
                <a:sym typeface="Object Sans"/>
              </a:rPr>
              <a:t>Divyam Pathak</a:t>
            </a:r>
          </a:p>
        </p:txBody>
      </p:sp>
      <p:sp>
        <p:nvSpPr>
          <p:cNvPr name="TextBox 5" id="5"/>
          <p:cNvSpPr txBox="true"/>
          <p:nvPr/>
        </p:nvSpPr>
        <p:spPr>
          <a:xfrm rot="0">
            <a:off x="14654523" y="1028700"/>
            <a:ext cx="2604777" cy="266700"/>
          </a:xfrm>
          <a:prstGeom prst="rect">
            <a:avLst/>
          </a:prstGeom>
        </p:spPr>
        <p:txBody>
          <a:bodyPr anchor="t" rtlCol="false" tIns="0" lIns="0" bIns="0" rIns="0">
            <a:spAutoFit/>
          </a:bodyPr>
          <a:lstStyle/>
          <a:p>
            <a:pPr algn="l">
              <a:lnSpc>
                <a:spcPts val="2160"/>
              </a:lnSpc>
            </a:pPr>
            <a:r>
              <a:rPr lang="en-US" sz="1800" b="true">
                <a:solidFill>
                  <a:srgbClr val="292B2D"/>
                </a:solidFill>
                <a:latin typeface="Object Sans Bold"/>
                <a:ea typeface="Object Sans Bold"/>
                <a:cs typeface="Object Sans Bold"/>
                <a:sym typeface="Object Sans Bold"/>
              </a:rPr>
              <a:t>PRESENTED BY</a:t>
            </a:r>
          </a:p>
        </p:txBody>
      </p:sp>
      <p:sp>
        <p:nvSpPr>
          <p:cNvPr name="TextBox 6" id="6"/>
          <p:cNvSpPr txBox="true"/>
          <p:nvPr/>
        </p:nvSpPr>
        <p:spPr>
          <a:xfrm rot="0">
            <a:off x="1210486" y="8924925"/>
            <a:ext cx="8271908" cy="647700"/>
          </a:xfrm>
          <a:prstGeom prst="rect">
            <a:avLst/>
          </a:prstGeom>
        </p:spPr>
        <p:txBody>
          <a:bodyPr anchor="t" rtlCol="false" tIns="0" lIns="0" bIns="0" rIns="0">
            <a:spAutoFit/>
          </a:bodyPr>
          <a:lstStyle/>
          <a:p>
            <a:pPr algn="l">
              <a:lnSpc>
                <a:spcPts val="2520"/>
              </a:lnSpc>
            </a:pPr>
            <a:r>
              <a:rPr lang="en-US" sz="2100">
                <a:solidFill>
                  <a:srgbClr val="292B2D"/>
                </a:solidFill>
                <a:latin typeface="Object Sans"/>
                <a:ea typeface="Object Sans"/>
                <a:cs typeface="Object Sans"/>
                <a:sym typeface="Object Sans"/>
              </a:rPr>
              <a:t>Subscribe to anything, delivered in minutes- Subscriptions . Sharing . Rentals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false" rot="0">
            <a:off x="12417042" y="4576159"/>
            <a:ext cx="5870958" cy="5710841"/>
          </a:xfrm>
          <a:custGeom>
            <a:avLst/>
            <a:gdLst/>
            <a:ahLst/>
            <a:cxnLst/>
            <a:rect r="r" b="b" t="t" l="l"/>
            <a:pathLst>
              <a:path h="5710841" w="5870958">
                <a:moveTo>
                  <a:pt x="0" y="0"/>
                </a:moveTo>
                <a:lnTo>
                  <a:pt x="5870958" y="0"/>
                </a:lnTo>
                <a:lnTo>
                  <a:pt x="5870958" y="5710841"/>
                </a:lnTo>
                <a:lnTo>
                  <a:pt x="0" y="57108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019175"/>
            <a:ext cx="7826369" cy="771525"/>
          </a:xfrm>
          <a:prstGeom prst="rect">
            <a:avLst/>
          </a:prstGeom>
        </p:spPr>
        <p:txBody>
          <a:bodyPr anchor="t" rtlCol="false" tIns="0" lIns="0" bIns="0" rIns="0">
            <a:spAutoFit/>
          </a:bodyPr>
          <a:lstStyle/>
          <a:p>
            <a:pPr algn="l">
              <a:lnSpc>
                <a:spcPts val="5999"/>
              </a:lnSpc>
            </a:pPr>
            <a:r>
              <a:rPr lang="en-US" b="true" sz="4999" spc="-249">
                <a:solidFill>
                  <a:srgbClr val="292B2D"/>
                </a:solidFill>
                <a:latin typeface="Object Sans Bold"/>
                <a:ea typeface="Object Sans Bold"/>
                <a:cs typeface="Object Sans Bold"/>
                <a:sym typeface="Object Sans Bold"/>
              </a:rPr>
              <a:t>COMPANY AT GLANCE</a:t>
            </a:r>
          </a:p>
        </p:txBody>
      </p:sp>
      <p:grpSp>
        <p:nvGrpSpPr>
          <p:cNvPr name="Group 4" id="4"/>
          <p:cNvGrpSpPr/>
          <p:nvPr/>
        </p:nvGrpSpPr>
        <p:grpSpPr>
          <a:xfrm rot="0">
            <a:off x="1028700" y="1909540"/>
            <a:ext cx="5026403" cy="1366455"/>
            <a:chOff x="0" y="0"/>
            <a:chExt cx="1407460" cy="382626"/>
          </a:xfrm>
        </p:grpSpPr>
        <p:sp>
          <p:nvSpPr>
            <p:cNvPr name="Freeform 5" id="5"/>
            <p:cNvSpPr/>
            <p:nvPr/>
          </p:nvSpPr>
          <p:spPr>
            <a:xfrm flipH="false" flipV="false" rot="0">
              <a:off x="0" y="0"/>
              <a:ext cx="1407460" cy="382626"/>
            </a:xfrm>
            <a:custGeom>
              <a:avLst/>
              <a:gdLst/>
              <a:ahLst/>
              <a:cxnLst/>
              <a:rect r="r" b="b" t="t" l="l"/>
              <a:pathLst>
                <a:path h="382626" w="1407460">
                  <a:moveTo>
                    <a:pt x="0" y="0"/>
                  </a:moveTo>
                  <a:lnTo>
                    <a:pt x="1407460" y="0"/>
                  </a:lnTo>
                  <a:lnTo>
                    <a:pt x="1407460" y="382626"/>
                  </a:lnTo>
                  <a:lnTo>
                    <a:pt x="0" y="382626"/>
                  </a:lnTo>
                  <a:close/>
                </a:path>
              </a:pathLst>
            </a:custGeom>
            <a:solidFill>
              <a:srgbClr val="292B2D"/>
            </a:solidFill>
          </p:spPr>
        </p:sp>
        <p:sp>
          <p:nvSpPr>
            <p:cNvPr name="TextBox 6" id="6"/>
            <p:cNvSpPr txBox="true"/>
            <p:nvPr/>
          </p:nvSpPr>
          <p:spPr>
            <a:xfrm>
              <a:off x="0" y="-28575"/>
              <a:ext cx="1407460" cy="411201"/>
            </a:xfrm>
            <a:prstGeom prst="rect">
              <a:avLst/>
            </a:prstGeom>
          </p:spPr>
          <p:txBody>
            <a:bodyPr anchor="ctr" rtlCol="false" tIns="59765" lIns="59765" bIns="59765" rIns="59765"/>
            <a:lstStyle/>
            <a:p>
              <a:pPr algn="ctr">
                <a:lnSpc>
                  <a:spcPts val="1960"/>
                </a:lnSpc>
              </a:pPr>
            </a:p>
          </p:txBody>
        </p:sp>
      </p:grpSp>
      <p:sp>
        <p:nvSpPr>
          <p:cNvPr name="Freeform 7" id="7"/>
          <p:cNvSpPr/>
          <p:nvPr/>
        </p:nvSpPr>
        <p:spPr>
          <a:xfrm flipH="false" flipV="false" rot="0">
            <a:off x="1157925" y="3871102"/>
            <a:ext cx="395742" cy="345285"/>
          </a:xfrm>
          <a:custGeom>
            <a:avLst/>
            <a:gdLst/>
            <a:ahLst/>
            <a:cxnLst/>
            <a:rect r="r" b="b" t="t" l="l"/>
            <a:pathLst>
              <a:path h="345285" w="395742">
                <a:moveTo>
                  <a:pt x="0" y="0"/>
                </a:moveTo>
                <a:lnTo>
                  <a:pt x="395742" y="0"/>
                </a:lnTo>
                <a:lnTo>
                  <a:pt x="395742" y="345285"/>
                </a:lnTo>
                <a:lnTo>
                  <a:pt x="0" y="3452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256254" y="2716560"/>
            <a:ext cx="4798849" cy="559435"/>
          </a:xfrm>
          <a:prstGeom prst="rect">
            <a:avLst/>
          </a:prstGeom>
        </p:spPr>
        <p:txBody>
          <a:bodyPr anchor="t" rtlCol="false" tIns="0" lIns="0" bIns="0" rIns="0">
            <a:spAutoFit/>
          </a:bodyPr>
          <a:lstStyle/>
          <a:p>
            <a:pPr algn="l">
              <a:lnSpc>
                <a:spcPts val="2240"/>
              </a:lnSpc>
            </a:pPr>
            <a:r>
              <a:rPr lang="en-US" sz="1600">
                <a:solidFill>
                  <a:srgbClr val="F6F4F1"/>
                </a:solidFill>
                <a:latin typeface="Object Sans"/>
                <a:ea typeface="Object Sans"/>
                <a:cs typeface="Object Sans"/>
                <a:sym typeface="Object Sans"/>
              </a:rPr>
              <a:t>FY2025 — bootstrapped,  zero external funding</a:t>
            </a:r>
          </a:p>
          <a:p>
            <a:pPr algn="l">
              <a:lnSpc>
                <a:spcPts val="2240"/>
              </a:lnSpc>
            </a:pPr>
          </a:p>
        </p:txBody>
      </p:sp>
      <p:sp>
        <p:nvSpPr>
          <p:cNvPr name="TextBox 9" id="9"/>
          <p:cNvSpPr txBox="true"/>
          <p:nvPr/>
        </p:nvSpPr>
        <p:spPr>
          <a:xfrm rot="0">
            <a:off x="1256254" y="2216379"/>
            <a:ext cx="3151835" cy="306705"/>
          </a:xfrm>
          <a:prstGeom prst="rect">
            <a:avLst/>
          </a:prstGeom>
        </p:spPr>
        <p:txBody>
          <a:bodyPr anchor="t" rtlCol="false" tIns="0" lIns="0" bIns="0" rIns="0">
            <a:spAutoFit/>
          </a:bodyPr>
          <a:lstStyle/>
          <a:p>
            <a:pPr algn="l">
              <a:lnSpc>
                <a:spcPts val="2520"/>
              </a:lnSpc>
            </a:pPr>
            <a:r>
              <a:rPr lang="en-US" sz="1800" spc="-53" b="true">
                <a:solidFill>
                  <a:srgbClr val="F6F4F1"/>
                </a:solidFill>
                <a:latin typeface="Object Sans Bold"/>
                <a:ea typeface="Object Sans Bold"/>
                <a:cs typeface="Object Sans Bold"/>
                <a:sym typeface="Object Sans Bold"/>
              </a:rPr>
              <a:t>Rs. 36.5 Cr ARR</a:t>
            </a:r>
          </a:p>
        </p:txBody>
      </p:sp>
      <p:grpSp>
        <p:nvGrpSpPr>
          <p:cNvPr name="Group 10" id="10"/>
          <p:cNvGrpSpPr/>
          <p:nvPr/>
        </p:nvGrpSpPr>
        <p:grpSpPr>
          <a:xfrm rot="0">
            <a:off x="1028700" y="3514120"/>
            <a:ext cx="5026403" cy="1366455"/>
            <a:chOff x="0" y="0"/>
            <a:chExt cx="1407460" cy="382626"/>
          </a:xfrm>
        </p:grpSpPr>
        <p:sp>
          <p:nvSpPr>
            <p:cNvPr name="Freeform 11" id="11"/>
            <p:cNvSpPr/>
            <p:nvPr/>
          </p:nvSpPr>
          <p:spPr>
            <a:xfrm flipH="false" flipV="false" rot="0">
              <a:off x="0" y="0"/>
              <a:ext cx="1407460" cy="382626"/>
            </a:xfrm>
            <a:custGeom>
              <a:avLst/>
              <a:gdLst/>
              <a:ahLst/>
              <a:cxnLst/>
              <a:rect r="r" b="b" t="t" l="l"/>
              <a:pathLst>
                <a:path h="382626" w="1407460">
                  <a:moveTo>
                    <a:pt x="0" y="0"/>
                  </a:moveTo>
                  <a:lnTo>
                    <a:pt x="1407460" y="0"/>
                  </a:lnTo>
                  <a:lnTo>
                    <a:pt x="1407460" y="382626"/>
                  </a:lnTo>
                  <a:lnTo>
                    <a:pt x="0" y="382626"/>
                  </a:lnTo>
                  <a:close/>
                </a:path>
              </a:pathLst>
            </a:custGeom>
            <a:solidFill>
              <a:srgbClr val="292B2D"/>
            </a:solidFill>
          </p:spPr>
        </p:sp>
        <p:sp>
          <p:nvSpPr>
            <p:cNvPr name="TextBox 12" id="12"/>
            <p:cNvSpPr txBox="true"/>
            <p:nvPr/>
          </p:nvSpPr>
          <p:spPr>
            <a:xfrm>
              <a:off x="0" y="-28575"/>
              <a:ext cx="1407460" cy="411201"/>
            </a:xfrm>
            <a:prstGeom prst="rect">
              <a:avLst/>
            </a:prstGeom>
          </p:spPr>
          <p:txBody>
            <a:bodyPr anchor="ctr" rtlCol="false" tIns="59765" lIns="59765" bIns="59765" rIns="59765"/>
            <a:lstStyle/>
            <a:p>
              <a:pPr algn="ctr">
                <a:lnSpc>
                  <a:spcPts val="1960"/>
                </a:lnSpc>
              </a:pPr>
            </a:p>
          </p:txBody>
        </p:sp>
      </p:grpSp>
      <p:sp>
        <p:nvSpPr>
          <p:cNvPr name="Freeform 13" id="13"/>
          <p:cNvSpPr/>
          <p:nvPr/>
        </p:nvSpPr>
        <p:spPr>
          <a:xfrm flipH="false" flipV="false" rot="0">
            <a:off x="1157925" y="5475681"/>
            <a:ext cx="395742" cy="345285"/>
          </a:xfrm>
          <a:custGeom>
            <a:avLst/>
            <a:gdLst/>
            <a:ahLst/>
            <a:cxnLst/>
            <a:rect r="r" b="b" t="t" l="l"/>
            <a:pathLst>
              <a:path h="345285" w="395742">
                <a:moveTo>
                  <a:pt x="0" y="0"/>
                </a:moveTo>
                <a:lnTo>
                  <a:pt x="395742" y="0"/>
                </a:lnTo>
                <a:lnTo>
                  <a:pt x="395742" y="345285"/>
                </a:lnTo>
                <a:lnTo>
                  <a:pt x="0" y="3452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1256254" y="4321139"/>
            <a:ext cx="4798849" cy="559435"/>
          </a:xfrm>
          <a:prstGeom prst="rect">
            <a:avLst/>
          </a:prstGeom>
        </p:spPr>
        <p:txBody>
          <a:bodyPr anchor="t" rtlCol="false" tIns="0" lIns="0" bIns="0" rIns="0">
            <a:spAutoFit/>
          </a:bodyPr>
          <a:lstStyle/>
          <a:p>
            <a:pPr algn="l">
              <a:lnSpc>
                <a:spcPts val="2240"/>
              </a:lnSpc>
            </a:pPr>
            <a:r>
              <a:rPr lang="en-US" sz="1600">
                <a:solidFill>
                  <a:srgbClr val="F6F4F1"/>
                </a:solidFill>
                <a:latin typeface="Object Sans"/>
                <a:ea typeface="Object Sans"/>
                <a:cs typeface="Object Sans"/>
                <a:sym typeface="Object Sans"/>
              </a:rPr>
              <a:t>Monthly revenue run-rate as of 2026</a:t>
            </a:r>
          </a:p>
          <a:p>
            <a:pPr algn="l">
              <a:lnSpc>
                <a:spcPts val="2240"/>
              </a:lnSpc>
            </a:pPr>
          </a:p>
        </p:txBody>
      </p:sp>
      <p:sp>
        <p:nvSpPr>
          <p:cNvPr name="TextBox 15" id="15"/>
          <p:cNvSpPr txBox="true"/>
          <p:nvPr/>
        </p:nvSpPr>
        <p:spPr>
          <a:xfrm rot="0">
            <a:off x="1256254" y="3820959"/>
            <a:ext cx="3151835" cy="306705"/>
          </a:xfrm>
          <a:prstGeom prst="rect">
            <a:avLst/>
          </a:prstGeom>
        </p:spPr>
        <p:txBody>
          <a:bodyPr anchor="t" rtlCol="false" tIns="0" lIns="0" bIns="0" rIns="0">
            <a:spAutoFit/>
          </a:bodyPr>
          <a:lstStyle/>
          <a:p>
            <a:pPr algn="l">
              <a:lnSpc>
                <a:spcPts val="2520"/>
              </a:lnSpc>
            </a:pPr>
            <a:r>
              <a:rPr lang="en-US" sz="1800" spc="-53" b="true">
                <a:solidFill>
                  <a:srgbClr val="F6F4F1"/>
                </a:solidFill>
                <a:latin typeface="Object Sans Bold"/>
                <a:ea typeface="Object Sans Bold"/>
                <a:cs typeface="Object Sans Bold"/>
                <a:sym typeface="Object Sans Bold"/>
              </a:rPr>
              <a:t>&gt;$2M / month</a:t>
            </a:r>
          </a:p>
        </p:txBody>
      </p:sp>
      <p:sp>
        <p:nvSpPr>
          <p:cNvPr name="Freeform 16" id="16"/>
          <p:cNvSpPr/>
          <p:nvPr/>
        </p:nvSpPr>
        <p:spPr>
          <a:xfrm flipH="false" flipV="false" rot="0">
            <a:off x="1157925" y="5500482"/>
            <a:ext cx="395742" cy="345285"/>
          </a:xfrm>
          <a:custGeom>
            <a:avLst/>
            <a:gdLst/>
            <a:ahLst/>
            <a:cxnLst/>
            <a:rect r="r" b="b" t="t" l="l"/>
            <a:pathLst>
              <a:path h="345285" w="395742">
                <a:moveTo>
                  <a:pt x="0" y="0"/>
                </a:moveTo>
                <a:lnTo>
                  <a:pt x="395742" y="0"/>
                </a:lnTo>
                <a:lnTo>
                  <a:pt x="395742" y="345285"/>
                </a:lnTo>
                <a:lnTo>
                  <a:pt x="0" y="3452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7" id="17"/>
          <p:cNvGrpSpPr/>
          <p:nvPr/>
        </p:nvGrpSpPr>
        <p:grpSpPr>
          <a:xfrm rot="0">
            <a:off x="1028700" y="5143500"/>
            <a:ext cx="5026403" cy="1366455"/>
            <a:chOff x="0" y="0"/>
            <a:chExt cx="1407460" cy="382626"/>
          </a:xfrm>
        </p:grpSpPr>
        <p:sp>
          <p:nvSpPr>
            <p:cNvPr name="Freeform 18" id="18"/>
            <p:cNvSpPr/>
            <p:nvPr/>
          </p:nvSpPr>
          <p:spPr>
            <a:xfrm flipH="false" flipV="false" rot="0">
              <a:off x="0" y="0"/>
              <a:ext cx="1407460" cy="382626"/>
            </a:xfrm>
            <a:custGeom>
              <a:avLst/>
              <a:gdLst/>
              <a:ahLst/>
              <a:cxnLst/>
              <a:rect r="r" b="b" t="t" l="l"/>
              <a:pathLst>
                <a:path h="382626" w="1407460">
                  <a:moveTo>
                    <a:pt x="0" y="0"/>
                  </a:moveTo>
                  <a:lnTo>
                    <a:pt x="1407460" y="0"/>
                  </a:lnTo>
                  <a:lnTo>
                    <a:pt x="1407460" y="382626"/>
                  </a:lnTo>
                  <a:lnTo>
                    <a:pt x="0" y="382626"/>
                  </a:lnTo>
                  <a:close/>
                </a:path>
              </a:pathLst>
            </a:custGeom>
            <a:solidFill>
              <a:srgbClr val="292B2D"/>
            </a:solidFill>
          </p:spPr>
        </p:sp>
        <p:sp>
          <p:nvSpPr>
            <p:cNvPr name="TextBox 19" id="19"/>
            <p:cNvSpPr txBox="true"/>
            <p:nvPr/>
          </p:nvSpPr>
          <p:spPr>
            <a:xfrm>
              <a:off x="0" y="-28575"/>
              <a:ext cx="1407460" cy="411201"/>
            </a:xfrm>
            <a:prstGeom prst="rect">
              <a:avLst/>
            </a:prstGeom>
          </p:spPr>
          <p:txBody>
            <a:bodyPr anchor="ctr" rtlCol="false" tIns="59765" lIns="59765" bIns="59765" rIns="59765"/>
            <a:lstStyle/>
            <a:p>
              <a:pPr algn="ctr">
                <a:lnSpc>
                  <a:spcPts val="1960"/>
                </a:lnSpc>
              </a:pPr>
            </a:p>
          </p:txBody>
        </p:sp>
      </p:grpSp>
      <p:sp>
        <p:nvSpPr>
          <p:cNvPr name="Freeform 20" id="20"/>
          <p:cNvSpPr/>
          <p:nvPr/>
        </p:nvSpPr>
        <p:spPr>
          <a:xfrm flipH="false" flipV="false" rot="0">
            <a:off x="1157925" y="7105062"/>
            <a:ext cx="395742" cy="345285"/>
          </a:xfrm>
          <a:custGeom>
            <a:avLst/>
            <a:gdLst/>
            <a:ahLst/>
            <a:cxnLst/>
            <a:rect r="r" b="b" t="t" l="l"/>
            <a:pathLst>
              <a:path h="345285" w="395742">
                <a:moveTo>
                  <a:pt x="0" y="0"/>
                </a:moveTo>
                <a:lnTo>
                  <a:pt x="395742" y="0"/>
                </a:lnTo>
                <a:lnTo>
                  <a:pt x="395742" y="345284"/>
                </a:lnTo>
                <a:lnTo>
                  <a:pt x="0" y="3452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1256254" y="5950520"/>
            <a:ext cx="4798849" cy="559435"/>
          </a:xfrm>
          <a:prstGeom prst="rect">
            <a:avLst/>
          </a:prstGeom>
        </p:spPr>
        <p:txBody>
          <a:bodyPr anchor="t" rtlCol="false" tIns="0" lIns="0" bIns="0" rIns="0">
            <a:spAutoFit/>
          </a:bodyPr>
          <a:lstStyle/>
          <a:p>
            <a:pPr algn="l">
              <a:lnSpc>
                <a:spcPts val="2240"/>
              </a:lnSpc>
            </a:pPr>
            <a:r>
              <a:rPr lang="en-US" sz="1600">
                <a:solidFill>
                  <a:srgbClr val="F6F4F1"/>
                </a:solidFill>
                <a:latin typeface="Object Sans"/>
                <a:ea typeface="Object Sans"/>
                <a:cs typeface="Object Sans"/>
                <a:sym typeface="Object Sans"/>
              </a:rPr>
              <a:t>Operations powered by autonomous AI agents</a:t>
            </a:r>
          </a:p>
          <a:p>
            <a:pPr algn="l">
              <a:lnSpc>
                <a:spcPts val="2240"/>
              </a:lnSpc>
            </a:pPr>
          </a:p>
        </p:txBody>
      </p:sp>
      <p:sp>
        <p:nvSpPr>
          <p:cNvPr name="TextBox 22" id="22"/>
          <p:cNvSpPr txBox="true"/>
          <p:nvPr/>
        </p:nvSpPr>
        <p:spPr>
          <a:xfrm rot="0">
            <a:off x="1256254" y="5450339"/>
            <a:ext cx="3151835" cy="621030"/>
          </a:xfrm>
          <a:prstGeom prst="rect">
            <a:avLst/>
          </a:prstGeom>
        </p:spPr>
        <p:txBody>
          <a:bodyPr anchor="t" rtlCol="false" tIns="0" lIns="0" bIns="0" rIns="0">
            <a:spAutoFit/>
          </a:bodyPr>
          <a:lstStyle/>
          <a:p>
            <a:pPr algn="l">
              <a:lnSpc>
                <a:spcPts val="2520"/>
              </a:lnSpc>
            </a:pPr>
            <a:r>
              <a:rPr lang="en-US" sz="1800" spc="-53" b="true">
                <a:solidFill>
                  <a:srgbClr val="F6F4F1"/>
                </a:solidFill>
                <a:latin typeface="Object Sans Bold"/>
                <a:ea typeface="Object Sans Bold"/>
                <a:cs typeface="Object Sans Bold"/>
                <a:sym typeface="Object Sans Bold"/>
              </a:rPr>
              <a:t>90%+ AI Ops</a:t>
            </a:r>
          </a:p>
          <a:p>
            <a:pPr algn="l">
              <a:lnSpc>
                <a:spcPts val="2520"/>
              </a:lnSpc>
            </a:pPr>
          </a:p>
        </p:txBody>
      </p:sp>
      <p:sp>
        <p:nvSpPr>
          <p:cNvPr name="Freeform 23" id="23"/>
          <p:cNvSpPr/>
          <p:nvPr/>
        </p:nvSpPr>
        <p:spPr>
          <a:xfrm flipH="false" flipV="false" rot="0">
            <a:off x="1157925" y="7133637"/>
            <a:ext cx="395742" cy="345285"/>
          </a:xfrm>
          <a:custGeom>
            <a:avLst/>
            <a:gdLst/>
            <a:ahLst/>
            <a:cxnLst/>
            <a:rect r="r" b="b" t="t" l="l"/>
            <a:pathLst>
              <a:path h="345285" w="395742">
                <a:moveTo>
                  <a:pt x="0" y="0"/>
                </a:moveTo>
                <a:lnTo>
                  <a:pt x="395742" y="0"/>
                </a:lnTo>
                <a:lnTo>
                  <a:pt x="395742" y="345284"/>
                </a:lnTo>
                <a:lnTo>
                  <a:pt x="0" y="3452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4" id="24"/>
          <p:cNvGrpSpPr/>
          <p:nvPr/>
        </p:nvGrpSpPr>
        <p:grpSpPr>
          <a:xfrm rot="0">
            <a:off x="1028700" y="6776655"/>
            <a:ext cx="5026403" cy="1366455"/>
            <a:chOff x="0" y="0"/>
            <a:chExt cx="1407460" cy="382626"/>
          </a:xfrm>
        </p:grpSpPr>
        <p:sp>
          <p:nvSpPr>
            <p:cNvPr name="Freeform 25" id="25"/>
            <p:cNvSpPr/>
            <p:nvPr/>
          </p:nvSpPr>
          <p:spPr>
            <a:xfrm flipH="false" flipV="false" rot="0">
              <a:off x="0" y="0"/>
              <a:ext cx="1407460" cy="382626"/>
            </a:xfrm>
            <a:custGeom>
              <a:avLst/>
              <a:gdLst/>
              <a:ahLst/>
              <a:cxnLst/>
              <a:rect r="r" b="b" t="t" l="l"/>
              <a:pathLst>
                <a:path h="382626" w="1407460">
                  <a:moveTo>
                    <a:pt x="0" y="0"/>
                  </a:moveTo>
                  <a:lnTo>
                    <a:pt x="1407460" y="0"/>
                  </a:lnTo>
                  <a:lnTo>
                    <a:pt x="1407460" y="382626"/>
                  </a:lnTo>
                  <a:lnTo>
                    <a:pt x="0" y="382626"/>
                  </a:lnTo>
                  <a:close/>
                </a:path>
              </a:pathLst>
            </a:custGeom>
            <a:solidFill>
              <a:srgbClr val="292B2D"/>
            </a:solidFill>
          </p:spPr>
        </p:sp>
        <p:sp>
          <p:nvSpPr>
            <p:cNvPr name="TextBox 26" id="26"/>
            <p:cNvSpPr txBox="true"/>
            <p:nvPr/>
          </p:nvSpPr>
          <p:spPr>
            <a:xfrm>
              <a:off x="0" y="-28575"/>
              <a:ext cx="1407460" cy="411201"/>
            </a:xfrm>
            <a:prstGeom prst="rect">
              <a:avLst/>
            </a:prstGeom>
          </p:spPr>
          <p:txBody>
            <a:bodyPr anchor="ctr" rtlCol="false" tIns="59765" lIns="59765" bIns="59765" rIns="59765"/>
            <a:lstStyle/>
            <a:p>
              <a:pPr algn="ctr">
                <a:lnSpc>
                  <a:spcPts val="1960"/>
                </a:lnSpc>
              </a:pPr>
            </a:p>
          </p:txBody>
        </p:sp>
      </p:grpSp>
      <p:sp>
        <p:nvSpPr>
          <p:cNvPr name="Freeform 27" id="27"/>
          <p:cNvSpPr/>
          <p:nvPr/>
        </p:nvSpPr>
        <p:spPr>
          <a:xfrm flipH="false" flipV="false" rot="0">
            <a:off x="1157925" y="8738216"/>
            <a:ext cx="395742" cy="345285"/>
          </a:xfrm>
          <a:custGeom>
            <a:avLst/>
            <a:gdLst/>
            <a:ahLst/>
            <a:cxnLst/>
            <a:rect r="r" b="b" t="t" l="l"/>
            <a:pathLst>
              <a:path h="345285" w="395742">
                <a:moveTo>
                  <a:pt x="0" y="0"/>
                </a:moveTo>
                <a:lnTo>
                  <a:pt x="395742" y="0"/>
                </a:lnTo>
                <a:lnTo>
                  <a:pt x="395742" y="345285"/>
                </a:lnTo>
                <a:lnTo>
                  <a:pt x="0" y="3452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8" id="28"/>
          <p:cNvSpPr txBox="true"/>
          <p:nvPr/>
        </p:nvSpPr>
        <p:spPr>
          <a:xfrm rot="0">
            <a:off x="1256254" y="7583674"/>
            <a:ext cx="4798849" cy="559435"/>
          </a:xfrm>
          <a:prstGeom prst="rect">
            <a:avLst/>
          </a:prstGeom>
        </p:spPr>
        <p:txBody>
          <a:bodyPr anchor="t" rtlCol="false" tIns="0" lIns="0" bIns="0" rIns="0">
            <a:spAutoFit/>
          </a:bodyPr>
          <a:lstStyle/>
          <a:p>
            <a:pPr algn="l">
              <a:lnSpc>
                <a:spcPts val="2240"/>
              </a:lnSpc>
            </a:pPr>
            <a:r>
              <a:rPr lang="en-US" sz="1600">
                <a:solidFill>
                  <a:srgbClr val="F6F4F1"/>
                </a:solidFill>
                <a:latin typeface="Object Sans"/>
                <a:ea typeface="Object Sans"/>
                <a:cs typeface="Object Sans"/>
                <a:sym typeface="Object Sans"/>
              </a:rPr>
              <a:t>Subscriptions | Sharing | Rentals</a:t>
            </a:r>
          </a:p>
          <a:p>
            <a:pPr algn="l">
              <a:lnSpc>
                <a:spcPts val="2240"/>
              </a:lnSpc>
            </a:pPr>
          </a:p>
        </p:txBody>
      </p:sp>
      <p:sp>
        <p:nvSpPr>
          <p:cNvPr name="TextBox 29" id="29"/>
          <p:cNvSpPr txBox="true"/>
          <p:nvPr/>
        </p:nvSpPr>
        <p:spPr>
          <a:xfrm rot="0">
            <a:off x="1256254" y="7083493"/>
            <a:ext cx="3151835" cy="621030"/>
          </a:xfrm>
          <a:prstGeom prst="rect">
            <a:avLst/>
          </a:prstGeom>
        </p:spPr>
        <p:txBody>
          <a:bodyPr anchor="t" rtlCol="false" tIns="0" lIns="0" bIns="0" rIns="0">
            <a:spAutoFit/>
          </a:bodyPr>
          <a:lstStyle/>
          <a:p>
            <a:pPr algn="l">
              <a:lnSpc>
                <a:spcPts val="2520"/>
              </a:lnSpc>
            </a:pPr>
            <a:r>
              <a:rPr lang="en-US" sz="1800" spc="-53" b="true">
                <a:solidFill>
                  <a:srgbClr val="F6F4F1"/>
                </a:solidFill>
                <a:latin typeface="Object Sans Bold"/>
                <a:ea typeface="Object Sans Bold"/>
                <a:cs typeface="Object Sans Bold"/>
                <a:sym typeface="Object Sans Bold"/>
              </a:rPr>
              <a:t>3 Verticals</a:t>
            </a:r>
          </a:p>
          <a:p>
            <a:pPr algn="l">
              <a:lnSpc>
                <a:spcPts val="2520"/>
              </a:lnSpc>
            </a:pPr>
          </a:p>
        </p:txBody>
      </p:sp>
      <p:sp>
        <p:nvSpPr>
          <p:cNvPr name="Freeform 30" id="30"/>
          <p:cNvSpPr/>
          <p:nvPr/>
        </p:nvSpPr>
        <p:spPr>
          <a:xfrm flipH="false" flipV="false" rot="0">
            <a:off x="6852096" y="4573369"/>
            <a:ext cx="395742" cy="345285"/>
          </a:xfrm>
          <a:custGeom>
            <a:avLst/>
            <a:gdLst/>
            <a:ahLst/>
            <a:cxnLst/>
            <a:rect r="r" b="b" t="t" l="l"/>
            <a:pathLst>
              <a:path h="345285" w="395742">
                <a:moveTo>
                  <a:pt x="0" y="0"/>
                </a:moveTo>
                <a:lnTo>
                  <a:pt x="395741" y="0"/>
                </a:lnTo>
                <a:lnTo>
                  <a:pt x="395741" y="345284"/>
                </a:lnTo>
                <a:lnTo>
                  <a:pt x="0" y="3452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1" id="31"/>
          <p:cNvGrpSpPr/>
          <p:nvPr/>
        </p:nvGrpSpPr>
        <p:grpSpPr>
          <a:xfrm rot="0">
            <a:off x="6722871" y="4216387"/>
            <a:ext cx="5026403" cy="1366455"/>
            <a:chOff x="0" y="0"/>
            <a:chExt cx="1407460" cy="382626"/>
          </a:xfrm>
        </p:grpSpPr>
        <p:sp>
          <p:nvSpPr>
            <p:cNvPr name="Freeform 32" id="32"/>
            <p:cNvSpPr/>
            <p:nvPr/>
          </p:nvSpPr>
          <p:spPr>
            <a:xfrm flipH="false" flipV="false" rot="0">
              <a:off x="0" y="0"/>
              <a:ext cx="1407460" cy="382626"/>
            </a:xfrm>
            <a:custGeom>
              <a:avLst/>
              <a:gdLst/>
              <a:ahLst/>
              <a:cxnLst/>
              <a:rect r="r" b="b" t="t" l="l"/>
              <a:pathLst>
                <a:path h="382626" w="1407460">
                  <a:moveTo>
                    <a:pt x="0" y="0"/>
                  </a:moveTo>
                  <a:lnTo>
                    <a:pt x="1407460" y="0"/>
                  </a:lnTo>
                  <a:lnTo>
                    <a:pt x="1407460" y="382626"/>
                  </a:lnTo>
                  <a:lnTo>
                    <a:pt x="0" y="382626"/>
                  </a:lnTo>
                  <a:close/>
                </a:path>
              </a:pathLst>
            </a:custGeom>
            <a:solidFill>
              <a:srgbClr val="292B2D"/>
            </a:solidFill>
          </p:spPr>
        </p:sp>
        <p:sp>
          <p:nvSpPr>
            <p:cNvPr name="TextBox 33" id="33"/>
            <p:cNvSpPr txBox="true"/>
            <p:nvPr/>
          </p:nvSpPr>
          <p:spPr>
            <a:xfrm>
              <a:off x="0" y="-28575"/>
              <a:ext cx="1407460" cy="411201"/>
            </a:xfrm>
            <a:prstGeom prst="rect">
              <a:avLst/>
            </a:prstGeom>
          </p:spPr>
          <p:txBody>
            <a:bodyPr anchor="ctr" rtlCol="false" tIns="59765" lIns="59765" bIns="59765" rIns="59765"/>
            <a:lstStyle/>
            <a:p>
              <a:pPr algn="ctr">
                <a:lnSpc>
                  <a:spcPts val="1960"/>
                </a:lnSpc>
              </a:pPr>
            </a:p>
          </p:txBody>
        </p:sp>
      </p:grpSp>
      <p:sp>
        <p:nvSpPr>
          <p:cNvPr name="Freeform 34" id="34"/>
          <p:cNvSpPr/>
          <p:nvPr/>
        </p:nvSpPr>
        <p:spPr>
          <a:xfrm flipH="false" flipV="false" rot="0">
            <a:off x="6852096" y="6177948"/>
            <a:ext cx="395742" cy="345285"/>
          </a:xfrm>
          <a:custGeom>
            <a:avLst/>
            <a:gdLst/>
            <a:ahLst/>
            <a:cxnLst/>
            <a:rect r="r" b="b" t="t" l="l"/>
            <a:pathLst>
              <a:path h="345285" w="395742">
                <a:moveTo>
                  <a:pt x="0" y="0"/>
                </a:moveTo>
                <a:lnTo>
                  <a:pt x="395741" y="0"/>
                </a:lnTo>
                <a:lnTo>
                  <a:pt x="395741" y="345285"/>
                </a:lnTo>
                <a:lnTo>
                  <a:pt x="0" y="3452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5" id="35"/>
          <p:cNvSpPr txBox="true"/>
          <p:nvPr/>
        </p:nvSpPr>
        <p:spPr>
          <a:xfrm rot="0">
            <a:off x="6950425" y="5023406"/>
            <a:ext cx="4798849" cy="559435"/>
          </a:xfrm>
          <a:prstGeom prst="rect">
            <a:avLst/>
          </a:prstGeom>
        </p:spPr>
        <p:txBody>
          <a:bodyPr anchor="t" rtlCol="false" tIns="0" lIns="0" bIns="0" rIns="0">
            <a:spAutoFit/>
          </a:bodyPr>
          <a:lstStyle/>
          <a:p>
            <a:pPr algn="l">
              <a:lnSpc>
                <a:spcPts val="2240"/>
              </a:lnSpc>
            </a:pPr>
            <a:r>
              <a:rPr lang="en-US" sz="1600">
                <a:solidFill>
                  <a:srgbClr val="F6F4F1"/>
                </a:solidFill>
                <a:latin typeface="Object Sans"/>
                <a:ea typeface="Object Sans"/>
                <a:cs typeface="Object Sans"/>
                <a:sym typeface="Object Sans"/>
              </a:rPr>
              <a:t>Bengaluru | IIT Madras alumni founders</a:t>
            </a:r>
          </a:p>
          <a:p>
            <a:pPr algn="l">
              <a:lnSpc>
                <a:spcPts val="2240"/>
              </a:lnSpc>
            </a:pPr>
          </a:p>
        </p:txBody>
      </p:sp>
      <p:sp>
        <p:nvSpPr>
          <p:cNvPr name="TextBox 36" id="36"/>
          <p:cNvSpPr txBox="true"/>
          <p:nvPr/>
        </p:nvSpPr>
        <p:spPr>
          <a:xfrm rot="0">
            <a:off x="6950425" y="4523225"/>
            <a:ext cx="3151835" cy="621030"/>
          </a:xfrm>
          <a:prstGeom prst="rect">
            <a:avLst/>
          </a:prstGeom>
        </p:spPr>
        <p:txBody>
          <a:bodyPr anchor="t" rtlCol="false" tIns="0" lIns="0" bIns="0" rIns="0">
            <a:spAutoFit/>
          </a:bodyPr>
          <a:lstStyle/>
          <a:p>
            <a:pPr algn="l">
              <a:lnSpc>
                <a:spcPts val="2520"/>
              </a:lnSpc>
            </a:pPr>
            <a:r>
              <a:rPr lang="en-US" sz="1800" spc="-53" b="true">
                <a:solidFill>
                  <a:srgbClr val="F6F4F1"/>
                </a:solidFill>
                <a:latin typeface="Object Sans Bold"/>
                <a:ea typeface="Object Sans Bold"/>
                <a:cs typeface="Object Sans Bold"/>
                <a:sym typeface="Object Sans Bold"/>
              </a:rPr>
              <a:t>Founded 2021</a:t>
            </a:r>
          </a:p>
          <a:p>
            <a:pPr algn="l">
              <a:lnSpc>
                <a:spcPts val="2520"/>
              </a:lnSpc>
            </a:pPr>
          </a:p>
        </p:txBody>
      </p:sp>
    </p:spTree>
  </p:cSld>
  <p:clrMapOvr>
    <a:masterClrMapping/>
  </p:clrMapOvr>
  <p:transition spd="slow">
    <p:push dir="d"/>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1028700" y="1019175"/>
            <a:ext cx="9970685" cy="1524000"/>
          </a:xfrm>
          <a:prstGeom prst="rect">
            <a:avLst/>
          </a:prstGeom>
        </p:spPr>
        <p:txBody>
          <a:bodyPr anchor="t" rtlCol="false" tIns="0" lIns="0" bIns="0" rIns="0">
            <a:spAutoFit/>
          </a:bodyPr>
          <a:lstStyle/>
          <a:p>
            <a:pPr algn="l">
              <a:lnSpc>
                <a:spcPts val="5999"/>
              </a:lnSpc>
            </a:pPr>
            <a:r>
              <a:rPr lang="en-US" b="true" sz="4999" spc="-249">
                <a:solidFill>
                  <a:srgbClr val="292B2D"/>
                </a:solidFill>
                <a:latin typeface="Object Sans Bold"/>
                <a:ea typeface="Object Sans Bold"/>
                <a:cs typeface="Object Sans Bold"/>
                <a:sym typeface="Object Sans Bold"/>
              </a:rPr>
              <a:t>RESEARCH METHODOLOGY</a:t>
            </a:r>
          </a:p>
          <a:p>
            <a:pPr algn="l">
              <a:lnSpc>
                <a:spcPts val="5999"/>
              </a:lnSpc>
            </a:pPr>
          </a:p>
        </p:txBody>
      </p:sp>
      <p:sp>
        <p:nvSpPr>
          <p:cNvPr name="TextBox 3" id="3"/>
          <p:cNvSpPr txBox="true"/>
          <p:nvPr/>
        </p:nvSpPr>
        <p:spPr>
          <a:xfrm rot="0">
            <a:off x="1030120" y="7601585"/>
            <a:ext cx="4667423" cy="1193678"/>
          </a:xfrm>
          <a:prstGeom prst="rect">
            <a:avLst/>
          </a:prstGeom>
        </p:spPr>
        <p:txBody>
          <a:bodyPr anchor="t" rtlCol="false" tIns="0" lIns="0" bIns="0" rIns="0">
            <a:spAutoFit/>
          </a:bodyPr>
          <a:lstStyle/>
          <a:p>
            <a:pPr algn="l">
              <a:lnSpc>
                <a:spcPts val="2391"/>
              </a:lnSpc>
            </a:pPr>
            <a:r>
              <a:rPr lang="en-US" sz="1708">
                <a:solidFill>
                  <a:srgbClr val="292B2D"/>
                </a:solidFill>
                <a:latin typeface="Object Sans"/>
                <a:ea typeface="Object Sans"/>
                <a:cs typeface="Object Sans"/>
                <a:sym typeface="Object Sans"/>
              </a:rPr>
              <a:t>Sharing guide: identified three distinct sharing models. Blog: 17 categories including a hidden student ICP</a:t>
            </a:r>
          </a:p>
          <a:p>
            <a:pPr algn="l">
              <a:lnSpc>
                <a:spcPts val="2391"/>
              </a:lnSpc>
            </a:pPr>
          </a:p>
        </p:txBody>
      </p:sp>
      <p:sp>
        <p:nvSpPr>
          <p:cNvPr name="TextBox 4" id="4"/>
          <p:cNvSpPr txBox="true"/>
          <p:nvPr/>
        </p:nvSpPr>
        <p:spPr>
          <a:xfrm rot="0">
            <a:off x="1030120" y="6823495"/>
            <a:ext cx="4667423" cy="1052172"/>
          </a:xfrm>
          <a:prstGeom prst="rect">
            <a:avLst/>
          </a:prstGeom>
        </p:spPr>
        <p:txBody>
          <a:bodyPr anchor="t" rtlCol="false" tIns="0" lIns="0" bIns="0" rIns="0">
            <a:spAutoFit/>
          </a:bodyPr>
          <a:lstStyle/>
          <a:p>
            <a:pPr algn="l">
              <a:lnSpc>
                <a:spcPts val="2780"/>
              </a:lnSpc>
            </a:pPr>
            <a:r>
              <a:rPr lang="en-US" sz="2317" b="true">
                <a:solidFill>
                  <a:srgbClr val="292B2D"/>
                </a:solidFill>
                <a:latin typeface="Object Sans Bold"/>
                <a:ea typeface="Object Sans Bold"/>
                <a:cs typeface="Object Sans Bold"/>
                <a:sym typeface="Object Sans Bold"/>
              </a:rPr>
              <a:t>READ ALL GUIDES AND BLOG CONTENT IN FULL</a:t>
            </a:r>
          </a:p>
          <a:p>
            <a:pPr algn="l">
              <a:lnSpc>
                <a:spcPts val="2780"/>
              </a:lnSpc>
            </a:pPr>
          </a:p>
        </p:txBody>
      </p:sp>
      <p:sp>
        <p:nvSpPr>
          <p:cNvPr name="TextBox 5" id="5"/>
          <p:cNvSpPr txBox="true"/>
          <p:nvPr/>
        </p:nvSpPr>
        <p:spPr>
          <a:xfrm rot="0">
            <a:off x="12068166" y="7795773"/>
            <a:ext cx="5191134" cy="999490"/>
          </a:xfrm>
          <a:prstGeom prst="rect">
            <a:avLst/>
          </a:prstGeom>
        </p:spPr>
        <p:txBody>
          <a:bodyPr anchor="t" rtlCol="false" tIns="0" lIns="0" bIns="0" rIns="0">
            <a:spAutoFit/>
          </a:bodyPr>
          <a:lstStyle/>
          <a:p>
            <a:pPr algn="l">
              <a:lnSpc>
                <a:spcPts val="2659"/>
              </a:lnSpc>
            </a:pPr>
            <a:r>
              <a:rPr lang="en-US" sz="1899">
                <a:solidFill>
                  <a:srgbClr val="292B2D"/>
                </a:solidFill>
                <a:latin typeface="Object Sans"/>
                <a:ea typeface="Object Sans"/>
                <a:cs typeface="Object Sans"/>
                <a:sym typeface="Object Sans"/>
              </a:rPr>
              <a:t>Jobs-to-Be-Done for ICP separation, Porter's Five Forces for competitive positioning</a:t>
            </a:r>
          </a:p>
        </p:txBody>
      </p:sp>
      <p:sp>
        <p:nvSpPr>
          <p:cNvPr name="TextBox 6" id="6"/>
          <p:cNvSpPr txBox="true"/>
          <p:nvPr/>
        </p:nvSpPr>
        <p:spPr>
          <a:xfrm rot="0">
            <a:off x="12068166" y="6813970"/>
            <a:ext cx="4668843" cy="1101850"/>
          </a:xfrm>
          <a:prstGeom prst="rect">
            <a:avLst/>
          </a:prstGeom>
        </p:spPr>
        <p:txBody>
          <a:bodyPr anchor="t" rtlCol="false" tIns="0" lIns="0" bIns="0" rIns="0">
            <a:spAutoFit/>
          </a:bodyPr>
          <a:lstStyle/>
          <a:p>
            <a:pPr algn="l">
              <a:lnSpc>
                <a:spcPts val="2887"/>
              </a:lnSpc>
            </a:pPr>
            <a:r>
              <a:rPr lang="en-US" sz="2405" b="true">
                <a:solidFill>
                  <a:srgbClr val="292B2D"/>
                </a:solidFill>
                <a:latin typeface="Object Sans Bold"/>
                <a:ea typeface="Object Sans Bold"/>
                <a:cs typeface="Object Sans Bold"/>
                <a:sym typeface="Object Sans Bold"/>
              </a:rPr>
              <a:t>APPLIED PRODUCT FRAMEWORKS</a:t>
            </a:r>
          </a:p>
          <a:p>
            <a:pPr algn="l">
              <a:lnSpc>
                <a:spcPts val="2887"/>
              </a:lnSpc>
            </a:pPr>
          </a:p>
        </p:txBody>
      </p:sp>
      <p:sp>
        <p:nvSpPr>
          <p:cNvPr name="Freeform 7" id="7"/>
          <p:cNvSpPr/>
          <p:nvPr/>
        </p:nvSpPr>
        <p:spPr>
          <a:xfrm flipH="false" flipV="false" rot="0">
            <a:off x="6221254" y="5462517"/>
            <a:ext cx="4664392" cy="5031455"/>
          </a:xfrm>
          <a:custGeom>
            <a:avLst/>
            <a:gdLst/>
            <a:ahLst/>
            <a:cxnLst/>
            <a:rect r="r" b="b" t="t" l="l"/>
            <a:pathLst>
              <a:path h="5031455" w="4664392">
                <a:moveTo>
                  <a:pt x="0" y="0"/>
                </a:moveTo>
                <a:lnTo>
                  <a:pt x="4664392" y="0"/>
                </a:lnTo>
                <a:lnTo>
                  <a:pt x="4664392" y="5031455"/>
                </a:lnTo>
                <a:lnTo>
                  <a:pt x="0" y="50314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028700" y="5147170"/>
            <a:ext cx="4668843" cy="1194029"/>
          </a:xfrm>
          <a:prstGeom prst="rect">
            <a:avLst/>
          </a:prstGeom>
        </p:spPr>
        <p:txBody>
          <a:bodyPr anchor="t" rtlCol="false" tIns="0" lIns="0" bIns="0" rIns="0">
            <a:spAutoFit/>
          </a:bodyPr>
          <a:lstStyle/>
          <a:p>
            <a:pPr algn="l">
              <a:lnSpc>
                <a:spcPts val="2392"/>
              </a:lnSpc>
            </a:pPr>
            <a:r>
              <a:rPr lang="en-US" sz="1708">
                <a:solidFill>
                  <a:srgbClr val="292B2D"/>
                </a:solidFill>
                <a:latin typeface="Object Sans"/>
                <a:ea typeface="Object Sans"/>
                <a:cs typeface="Object Sans"/>
                <a:sym typeface="Object Sans"/>
              </a:rPr>
              <a:t>Mapped the website and app flow from the entry point, documented every screen, CTA, and gate</a:t>
            </a:r>
          </a:p>
          <a:p>
            <a:pPr algn="l">
              <a:lnSpc>
                <a:spcPts val="2392"/>
              </a:lnSpc>
            </a:pPr>
          </a:p>
        </p:txBody>
      </p:sp>
      <p:sp>
        <p:nvSpPr>
          <p:cNvPr name="TextBox 9" id="9"/>
          <p:cNvSpPr txBox="true"/>
          <p:nvPr/>
        </p:nvSpPr>
        <p:spPr>
          <a:xfrm rot="0">
            <a:off x="1028700" y="4369080"/>
            <a:ext cx="4668843" cy="1185208"/>
          </a:xfrm>
          <a:prstGeom prst="rect">
            <a:avLst/>
          </a:prstGeom>
        </p:spPr>
        <p:txBody>
          <a:bodyPr anchor="t" rtlCol="false" tIns="0" lIns="0" bIns="0" rIns="0">
            <a:spAutoFit/>
          </a:bodyPr>
          <a:lstStyle/>
          <a:p>
            <a:pPr algn="l">
              <a:lnSpc>
                <a:spcPts val="3132"/>
              </a:lnSpc>
            </a:pPr>
            <a:r>
              <a:rPr lang="en-US" sz="2610" b="true">
                <a:solidFill>
                  <a:srgbClr val="292B2D"/>
                </a:solidFill>
                <a:latin typeface="Object Sans Bold"/>
                <a:ea typeface="Object Sans Bold"/>
                <a:cs typeface="Object Sans Bold"/>
                <a:sym typeface="Object Sans Bold"/>
              </a:rPr>
              <a:t>USED THE PRODUCT AS A NEW CUSTOMER</a:t>
            </a:r>
          </a:p>
          <a:p>
            <a:pPr algn="l">
              <a:lnSpc>
                <a:spcPts val="3132"/>
              </a:lnSpc>
            </a:pPr>
          </a:p>
        </p:txBody>
      </p:sp>
      <p:sp>
        <p:nvSpPr>
          <p:cNvPr name="TextBox 10" id="10"/>
          <p:cNvSpPr txBox="true"/>
          <p:nvPr/>
        </p:nvSpPr>
        <p:spPr>
          <a:xfrm rot="0">
            <a:off x="6548433" y="3131714"/>
            <a:ext cx="5191134" cy="1332865"/>
          </a:xfrm>
          <a:prstGeom prst="rect">
            <a:avLst/>
          </a:prstGeom>
        </p:spPr>
        <p:txBody>
          <a:bodyPr anchor="t" rtlCol="false" tIns="0" lIns="0" bIns="0" rIns="0">
            <a:spAutoFit/>
          </a:bodyPr>
          <a:lstStyle/>
          <a:p>
            <a:pPr algn="l">
              <a:lnSpc>
                <a:spcPts val="2659"/>
              </a:lnSpc>
            </a:pPr>
            <a:r>
              <a:rPr lang="en-US" sz="1899">
                <a:solidFill>
                  <a:srgbClr val="292B2D"/>
                </a:solidFill>
                <a:latin typeface="Object Sans"/>
                <a:ea typeface="Object Sans"/>
                <a:cs typeface="Object Sans"/>
                <a:sym typeface="Object Sans"/>
              </a:rPr>
              <a:t>15+ pages of user-generated reports primary source for complaint patterns and root cause identification</a:t>
            </a:r>
          </a:p>
          <a:p>
            <a:pPr algn="l">
              <a:lnSpc>
                <a:spcPts val="2659"/>
              </a:lnSpc>
            </a:pPr>
          </a:p>
        </p:txBody>
      </p:sp>
      <p:sp>
        <p:nvSpPr>
          <p:cNvPr name="TextBox 11" id="11"/>
          <p:cNvSpPr txBox="true"/>
          <p:nvPr/>
        </p:nvSpPr>
        <p:spPr>
          <a:xfrm rot="0">
            <a:off x="6548433" y="2353624"/>
            <a:ext cx="4924234" cy="1106162"/>
          </a:xfrm>
          <a:prstGeom prst="rect">
            <a:avLst/>
          </a:prstGeom>
        </p:spPr>
        <p:txBody>
          <a:bodyPr anchor="t" rtlCol="false" tIns="0" lIns="0" bIns="0" rIns="0">
            <a:spAutoFit/>
          </a:bodyPr>
          <a:lstStyle/>
          <a:p>
            <a:pPr algn="l">
              <a:lnSpc>
                <a:spcPts val="2898"/>
              </a:lnSpc>
            </a:pPr>
            <a:r>
              <a:rPr lang="en-US" sz="2415" b="true">
                <a:solidFill>
                  <a:srgbClr val="292B2D"/>
                </a:solidFill>
                <a:latin typeface="Object Sans Bold"/>
                <a:ea typeface="Object Sans Bold"/>
                <a:cs typeface="Object Sans Bold"/>
                <a:sym typeface="Object Sans Bold"/>
              </a:rPr>
              <a:t>STUDIED THE ONLYTECH COMMUNITY FORUM</a:t>
            </a:r>
          </a:p>
          <a:p>
            <a:pPr algn="l">
              <a:lnSpc>
                <a:spcPts val="2898"/>
              </a:lnSpc>
            </a:pPr>
          </a:p>
        </p:txBody>
      </p:sp>
      <p:sp>
        <p:nvSpPr>
          <p:cNvPr name="TextBox 12" id="12"/>
          <p:cNvSpPr txBox="true"/>
          <p:nvPr/>
        </p:nvSpPr>
        <p:spPr>
          <a:xfrm rot="0">
            <a:off x="12068166" y="5147170"/>
            <a:ext cx="4668843" cy="1194029"/>
          </a:xfrm>
          <a:prstGeom prst="rect">
            <a:avLst/>
          </a:prstGeom>
        </p:spPr>
        <p:txBody>
          <a:bodyPr anchor="t" rtlCol="false" tIns="0" lIns="0" bIns="0" rIns="0">
            <a:spAutoFit/>
          </a:bodyPr>
          <a:lstStyle/>
          <a:p>
            <a:pPr algn="l">
              <a:lnSpc>
                <a:spcPts val="2392"/>
              </a:lnSpc>
            </a:pPr>
            <a:r>
              <a:rPr lang="en-US" sz="1708">
                <a:solidFill>
                  <a:srgbClr val="292B2D"/>
                </a:solidFill>
                <a:latin typeface="Object Sans"/>
                <a:ea typeface="Object Sans"/>
                <a:cs typeface="Object Sans"/>
                <a:sym typeface="Object Sans"/>
              </a:rPr>
              <a:t>CRED Money (July 2024 launch, Account Aggregator framework, 252.9M accounts), PhonePe, Google Pay</a:t>
            </a:r>
          </a:p>
          <a:p>
            <a:pPr algn="l">
              <a:lnSpc>
                <a:spcPts val="2392"/>
              </a:lnSpc>
            </a:pPr>
          </a:p>
        </p:txBody>
      </p:sp>
      <p:sp>
        <p:nvSpPr>
          <p:cNvPr name="TextBox 13" id="13"/>
          <p:cNvSpPr txBox="true"/>
          <p:nvPr/>
        </p:nvSpPr>
        <p:spPr>
          <a:xfrm rot="0">
            <a:off x="12068166" y="4369080"/>
            <a:ext cx="4823799" cy="1018269"/>
          </a:xfrm>
          <a:prstGeom prst="rect">
            <a:avLst/>
          </a:prstGeom>
        </p:spPr>
        <p:txBody>
          <a:bodyPr anchor="t" rtlCol="false" tIns="0" lIns="0" bIns="0" rIns="0">
            <a:spAutoFit/>
          </a:bodyPr>
          <a:lstStyle/>
          <a:p>
            <a:pPr algn="l">
              <a:lnSpc>
                <a:spcPts val="2691"/>
              </a:lnSpc>
            </a:pPr>
            <a:r>
              <a:rPr lang="en-US" sz="2242" b="true">
                <a:solidFill>
                  <a:srgbClr val="292B2D"/>
                </a:solidFill>
                <a:latin typeface="Object Sans Bold"/>
                <a:ea typeface="Object Sans Bold"/>
                <a:cs typeface="Object Sans Bold"/>
                <a:sym typeface="Object Sans Bold"/>
              </a:rPr>
              <a:t>RESEARCHED THE COMPETITIVE LANDSCAPE</a:t>
            </a:r>
          </a:p>
          <a:p>
            <a:pPr algn="l">
              <a:lnSpc>
                <a:spcPts val="2691"/>
              </a:lnSpc>
            </a:pPr>
          </a:p>
        </p:txBody>
      </p:sp>
    </p:spTree>
  </p:cSld>
  <p:clrMapOvr>
    <a:masterClrMapping/>
  </p:clrMapOvr>
  <p:transition spd="slow">
    <p:push dir="d"/>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1028700" y="1009650"/>
            <a:ext cx="7399912" cy="1737561"/>
          </a:xfrm>
          <a:prstGeom prst="rect">
            <a:avLst/>
          </a:prstGeom>
        </p:spPr>
        <p:txBody>
          <a:bodyPr anchor="t" rtlCol="false" tIns="0" lIns="0" bIns="0" rIns="0">
            <a:spAutoFit/>
          </a:bodyPr>
          <a:lstStyle/>
          <a:p>
            <a:pPr algn="l">
              <a:lnSpc>
                <a:spcPts val="4529"/>
              </a:lnSpc>
            </a:pPr>
            <a:r>
              <a:rPr lang="en-US" b="true" sz="3774" spc="-188">
                <a:solidFill>
                  <a:srgbClr val="292B2D"/>
                </a:solidFill>
                <a:latin typeface="Object Sans Bold"/>
                <a:ea typeface="Object Sans Bold"/>
                <a:cs typeface="Object Sans Bold"/>
                <a:sym typeface="Object Sans Bold"/>
              </a:rPr>
              <a:t>5 FEEDBACKS — OVERVIEW AND PRIORITY</a:t>
            </a:r>
          </a:p>
          <a:p>
            <a:pPr algn="l">
              <a:lnSpc>
                <a:spcPts val="4529"/>
              </a:lnSpc>
            </a:pPr>
          </a:p>
        </p:txBody>
      </p:sp>
      <p:sp>
        <p:nvSpPr>
          <p:cNvPr name="TextBox 3" id="3"/>
          <p:cNvSpPr txBox="true"/>
          <p:nvPr/>
        </p:nvSpPr>
        <p:spPr>
          <a:xfrm rot="0">
            <a:off x="11106310" y="1346481"/>
            <a:ext cx="6152990" cy="666115"/>
          </a:xfrm>
          <a:prstGeom prst="rect">
            <a:avLst/>
          </a:prstGeom>
        </p:spPr>
        <p:txBody>
          <a:bodyPr anchor="t" rtlCol="false" tIns="0" lIns="0" bIns="0" rIns="0">
            <a:spAutoFit/>
          </a:bodyPr>
          <a:lstStyle/>
          <a:p>
            <a:pPr algn="just">
              <a:lnSpc>
                <a:spcPts val="2659"/>
              </a:lnSpc>
            </a:pPr>
            <a:r>
              <a:rPr lang="en-US" sz="1899">
                <a:solidFill>
                  <a:srgbClr val="292B2D"/>
                </a:solidFill>
                <a:latin typeface="Object Sans"/>
                <a:ea typeface="Object Sans"/>
                <a:cs typeface="Object Sans"/>
                <a:sym typeface="Object Sans"/>
              </a:rPr>
              <a:t>Three sharing models </a:t>
            </a:r>
            <a:r>
              <a:rPr lang="en-US" sz="1899">
                <a:solidFill>
                  <a:srgbClr val="292B2D"/>
                </a:solidFill>
                <a:latin typeface="Object Sans"/>
                <a:ea typeface="Object Sans"/>
                <a:cs typeface="Object Sans"/>
                <a:sym typeface="Object Sans"/>
              </a:rPr>
              <a:t>operate in parallel with no disclosure to buyers</a:t>
            </a:r>
          </a:p>
        </p:txBody>
      </p:sp>
      <p:sp>
        <p:nvSpPr>
          <p:cNvPr name="TextBox 4" id="4"/>
          <p:cNvSpPr txBox="true"/>
          <p:nvPr/>
        </p:nvSpPr>
        <p:spPr>
          <a:xfrm rot="0">
            <a:off x="11106310" y="1019175"/>
            <a:ext cx="5065197" cy="754426"/>
          </a:xfrm>
          <a:prstGeom prst="rect">
            <a:avLst/>
          </a:prstGeom>
        </p:spPr>
        <p:txBody>
          <a:bodyPr anchor="t" rtlCol="false" tIns="0" lIns="0" bIns="0" rIns="0">
            <a:spAutoFit/>
          </a:bodyPr>
          <a:lstStyle/>
          <a:p>
            <a:pPr algn="l">
              <a:lnSpc>
                <a:spcPts val="2963"/>
              </a:lnSpc>
            </a:pPr>
            <a:r>
              <a:rPr lang="en-US" sz="2469" b="true">
                <a:solidFill>
                  <a:srgbClr val="292B2D"/>
                </a:solidFill>
                <a:latin typeface="Object Sans Bold"/>
                <a:ea typeface="Object Sans Bold"/>
                <a:cs typeface="Object Sans Bold"/>
                <a:sym typeface="Object Sans Bold"/>
              </a:rPr>
              <a:t>FEATURES / SERVICES</a:t>
            </a:r>
          </a:p>
          <a:p>
            <a:pPr algn="l">
              <a:lnSpc>
                <a:spcPts val="2963"/>
              </a:lnSpc>
            </a:pPr>
          </a:p>
        </p:txBody>
      </p:sp>
      <p:sp>
        <p:nvSpPr>
          <p:cNvPr name="TextBox 5" id="5"/>
          <p:cNvSpPr txBox="true"/>
          <p:nvPr/>
        </p:nvSpPr>
        <p:spPr>
          <a:xfrm rot="0">
            <a:off x="11106310" y="3776943"/>
            <a:ext cx="6152990" cy="666115"/>
          </a:xfrm>
          <a:prstGeom prst="rect">
            <a:avLst/>
          </a:prstGeom>
        </p:spPr>
        <p:txBody>
          <a:bodyPr anchor="t" rtlCol="false" tIns="0" lIns="0" bIns="0" rIns="0">
            <a:spAutoFit/>
          </a:bodyPr>
          <a:lstStyle/>
          <a:p>
            <a:pPr algn="just">
              <a:lnSpc>
                <a:spcPts val="2659"/>
              </a:lnSpc>
            </a:pPr>
            <a:r>
              <a:rPr lang="en-US" sz="1899">
                <a:solidFill>
                  <a:srgbClr val="292B2D"/>
                </a:solidFill>
                <a:latin typeface="Object Sans"/>
                <a:ea typeface="Object Sans"/>
                <a:cs typeface="Object Sans"/>
                <a:sym typeface="Object Sans"/>
              </a:rPr>
              <a:t>The Negotiate API is a passive, user-triggered</a:t>
            </a:r>
            <a:r>
              <a:rPr lang="en-US" sz="1899">
                <a:solidFill>
                  <a:srgbClr val="292B2D"/>
                </a:solidFill>
                <a:latin typeface="Object Sans"/>
                <a:ea typeface="Object Sans"/>
                <a:cs typeface="Object Sans"/>
                <a:sym typeface="Object Sans"/>
              </a:rPr>
              <a:t> button the stated moat does not exist</a:t>
            </a:r>
          </a:p>
        </p:txBody>
      </p:sp>
      <p:sp>
        <p:nvSpPr>
          <p:cNvPr name="TextBox 6" id="6"/>
          <p:cNvSpPr txBox="true"/>
          <p:nvPr/>
        </p:nvSpPr>
        <p:spPr>
          <a:xfrm rot="0">
            <a:off x="11106310" y="3422296"/>
            <a:ext cx="5211691" cy="785495"/>
          </a:xfrm>
          <a:prstGeom prst="rect">
            <a:avLst/>
          </a:prstGeom>
        </p:spPr>
        <p:txBody>
          <a:bodyPr anchor="t" rtlCol="false" tIns="0" lIns="0" bIns="0" rIns="0">
            <a:spAutoFit/>
          </a:bodyPr>
          <a:lstStyle/>
          <a:p>
            <a:pPr algn="l">
              <a:lnSpc>
                <a:spcPts val="3049"/>
              </a:lnSpc>
            </a:pPr>
            <a:r>
              <a:rPr lang="en-US" sz="2541" b="true">
                <a:solidFill>
                  <a:srgbClr val="292B2D"/>
                </a:solidFill>
                <a:latin typeface="Object Sans Bold"/>
                <a:ea typeface="Object Sans Bold"/>
                <a:cs typeface="Object Sans Bold"/>
                <a:sym typeface="Object Sans Bold"/>
              </a:rPr>
              <a:t>FEATURES / SERVICES</a:t>
            </a:r>
          </a:p>
          <a:p>
            <a:pPr algn="l">
              <a:lnSpc>
                <a:spcPts val="3049"/>
              </a:lnSpc>
            </a:pPr>
          </a:p>
        </p:txBody>
      </p:sp>
      <p:sp>
        <p:nvSpPr>
          <p:cNvPr name="Freeform 7" id="7"/>
          <p:cNvSpPr/>
          <p:nvPr/>
        </p:nvSpPr>
        <p:spPr>
          <a:xfrm flipH="false" flipV="false" rot="0">
            <a:off x="1028700" y="5143500"/>
            <a:ext cx="6482124" cy="5513657"/>
          </a:xfrm>
          <a:custGeom>
            <a:avLst/>
            <a:gdLst/>
            <a:ahLst/>
            <a:cxnLst/>
            <a:rect r="r" b="b" t="t" l="l"/>
            <a:pathLst>
              <a:path h="5513657" w="6482124">
                <a:moveTo>
                  <a:pt x="0" y="0"/>
                </a:moveTo>
                <a:lnTo>
                  <a:pt x="6482124" y="0"/>
                </a:lnTo>
                <a:lnTo>
                  <a:pt x="6482124" y="5513657"/>
                </a:lnTo>
                <a:lnTo>
                  <a:pt x="0" y="55136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1106310" y="6207457"/>
            <a:ext cx="6152990" cy="666115"/>
          </a:xfrm>
          <a:prstGeom prst="rect">
            <a:avLst/>
          </a:prstGeom>
        </p:spPr>
        <p:txBody>
          <a:bodyPr anchor="t" rtlCol="false" tIns="0" lIns="0" bIns="0" rIns="0">
            <a:spAutoFit/>
          </a:bodyPr>
          <a:lstStyle/>
          <a:p>
            <a:pPr algn="just">
              <a:lnSpc>
                <a:spcPts val="2659"/>
              </a:lnSpc>
            </a:pPr>
            <a:r>
              <a:rPr lang="en-US" sz="1899">
                <a:solidFill>
                  <a:srgbClr val="292B2D"/>
                </a:solidFill>
                <a:latin typeface="Object Sans"/>
                <a:ea typeface="Object Sans"/>
                <a:cs typeface="Object Sans"/>
                <a:sym typeface="Object Sans"/>
              </a:rPr>
              <a:t>The student segment is a content categ</a:t>
            </a:r>
            <a:r>
              <a:rPr lang="en-US" sz="1899">
                <a:solidFill>
                  <a:srgbClr val="292B2D"/>
                </a:solidFill>
                <a:latin typeface="Object Sans"/>
                <a:ea typeface="Object Sans"/>
                <a:cs typeface="Object Sans"/>
                <a:sym typeface="Object Sans"/>
              </a:rPr>
              <a:t>ory, not a customer acquisition strategy</a:t>
            </a:r>
          </a:p>
        </p:txBody>
      </p:sp>
      <p:sp>
        <p:nvSpPr>
          <p:cNvPr name="TextBox 9" id="9"/>
          <p:cNvSpPr txBox="true"/>
          <p:nvPr/>
        </p:nvSpPr>
        <p:spPr>
          <a:xfrm rot="0">
            <a:off x="11106310" y="5852810"/>
            <a:ext cx="5211691" cy="785495"/>
          </a:xfrm>
          <a:prstGeom prst="rect">
            <a:avLst/>
          </a:prstGeom>
        </p:spPr>
        <p:txBody>
          <a:bodyPr anchor="t" rtlCol="false" tIns="0" lIns="0" bIns="0" rIns="0">
            <a:spAutoFit/>
          </a:bodyPr>
          <a:lstStyle/>
          <a:p>
            <a:pPr algn="l">
              <a:lnSpc>
                <a:spcPts val="3049"/>
              </a:lnSpc>
            </a:pPr>
            <a:r>
              <a:rPr lang="en-US" sz="2541" b="true">
                <a:solidFill>
                  <a:srgbClr val="292B2D"/>
                </a:solidFill>
                <a:latin typeface="Object Sans Bold"/>
                <a:ea typeface="Object Sans Bold"/>
                <a:cs typeface="Object Sans Bold"/>
                <a:sym typeface="Object Sans Bold"/>
              </a:rPr>
              <a:t>GTM &amp; ICPS</a:t>
            </a:r>
          </a:p>
          <a:p>
            <a:pPr algn="l">
              <a:lnSpc>
                <a:spcPts val="3049"/>
              </a:lnSpc>
            </a:pPr>
          </a:p>
        </p:txBody>
      </p:sp>
      <p:sp>
        <p:nvSpPr>
          <p:cNvPr name="TextBox 10" id="10"/>
          <p:cNvSpPr txBox="true"/>
          <p:nvPr/>
        </p:nvSpPr>
        <p:spPr>
          <a:xfrm rot="0">
            <a:off x="11106310" y="8346256"/>
            <a:ext cx="6152990" cy="666115"/>
          </a:xfrm>
          <a:prstGeom prst="rect">
            <a:avLst/>
          </a:prstGeom>
        </p:spPr>
        <p:txBody>
          <a:bodyPr anchor="t" rtlCol="false" tIns="0" lIns="0" bIns="0" rIns="0">
            <a:spAutoFit/>
          </a:bodyPr>
          <a:lstStyle/>
          <a:p>
            <a:pPr algn="just">
              <a:lnSpc>
                <a:spcPts val="2659"/>
              </a:lnSpc>
            </a:pPr>
            <a:r>
              <a:rPr lang="en-US" sz="1899">
                <a:solidFill>
                  <a:srgbClr val="292B2D"/>
                </a:solidFill>
                <a:latin typeface="Object Sans"/>
                <a:ea typeface="Object Sans"/>
                <a:cs typeface="Object Sans"/>
                <a:sym typeface="Object Sans"/>
              </a:rPr>
              <a:t>Coupon driven SEO and no community presence</a:t>
            </a:r>
            <a:r>
              <a:rPr lang="en-US" sz="1899">
                <a:solidFill>
                  <a:srgbClr val="292B2D"/>
                </a:solidFill>
                <a:latin typeface="Object Sans"/>
                <a:ea typeface="Object Sans"/>
                <a:cs typeface="Object Sans"/>
                <a:sym typeface="Object Sans"/>
              </a:rPr>
              <a:t> produce a low-retention user base</a:t>
            </a:r>
          </a:p>
        </p:txBody>
      </p:sp>
      <p:sp>
        <p:nvSpPr>
          <p:cNvPr name="TextBox 11" id="11"/>
          <p:cNvSpPr txBox="true"/>
          <p:nvPr/>
        </p:nvSpPr>
        <p:spPr>
          <a:xfrm rot="0">
            <a:off x="11106310" y="7996726"/>
            <a:ext cx="6152990" cy="784786"/>
          </a:xfrm>
          <a:prstGeom prst="rect">
            <a:avLst/>
          </a:prstGeom>
        </p:spPr>
        <p:txBody>
          <a:bodyPr anchor="t" rtlCol="false" tIns="0" lIns="0" bIns="0" rIns="0">
            <a:spAutoFit/>
          </a:bodyPr>
          <a:lstStyle/>
          <a:p>
            <a:pPr algn="l">
              <a:lnSpc>
                <a:spcPts val="3084"/>
              </a:lnSpc>
            </a:pPr>
            <a:r>
              <a:rPr lang="en-US" sz="2570" b="true">
                <a:solidFill>
                  <a:srgbClr val="292B2D"/>
                </a:solidFill>
                <a:latin typeface="Object Sans Bold"/>
                <a:ea typeface="Object Sans Bold"/>
                <a:cs typeface="Object Sans Bold"/>
                <a:sym typeface="Object Sans Bold"/>
              </a:rPr>
              <a:t>POTENTIAL COLLABORATIONS</a:t>
            </a:r>
          </a:p>
          <a:p>
            <a:pPr algn="l">
              <a:lnSpc>
                <a:spcPts val="3084"/>
              </a:lnSpc>
            </a:pPr>
          </a:p>
        </p:txBody>
      </p:sp>
      <p:sp>
        <p:nvSpPr>
          <p:cNvPr name="TextBox 12" id="12"/>
          <p:cNvSpPr txBox="true"/>
          <p:nvPr/>
        </p:nvSpPr>
        <p:spPr>
          <a:xfrm rot="0">
            <a:off x="1028700" y="3541676"/>
            <a:ext cx="6152990" cy="666115"/>
          </a:xfrm>
          <a:prstGeom prst="rect">
            <a:avLst/>
          </a:prstGeom>
        </p:spPr>
        <p:txBody>
          <a:bodyPr anchor="t" rtlCol="false" tIns="0" lIns="0" bIns="0" rIns="0">
            <a:spAutoFit/>
          </a:bodyPr>
          <a:lstStyle/>
          <a:p>
            <a:pPr algn="just">
              <a:lnSpc>
                <a:spcPts val="2659"/>
              </a:lnSpc>
            </a:pPr>
            <a:r>
              <a:rPr lang="en-US" sz="1899">
                <a:solidFill>
                  <a:srgbClr val="292B2D"/>
                </a:solidFill>
                <a:latin typeface="Object Sans"/>
                <a:ea typeface="Object Sans"/>
                <a:cs typeface="Object Sans"/>
                <a:sym typeface="Object Sans"/>
              </a:rPr>
              <a:t>CRED Money is the primary competitive threat absent from Subspace's competitor framing</a:t>
            </a:r>
          </a:p>
        </p:txBody>
      </p:sp>
      <p:sp>
        <p:nvSpPr>
          <p:cNvPr name="TextBox 13" id="13"/>
          <p:cNvSpPr txBox="true"/>
          <p:nvPr/>
        </p:nvSpPr>
        <p:spPr>
          <a:xfrm rot="0">
            <a:off x="1028700" y="3207848"/>
            <a:ext cx="4631855" cy="690698"/>
          </a:xfrm>
          <a:prstGeom prst="rect">
            <a:avLst/>
          </a:prstGeom>
        </p:spPr>
        <p:txBody>
          <a:bodyPr anchor="t" rtlCol="false" tIns="0" lIns="0" bIns="0" rIns="0">
            <a:spAutoFit/>
          </a:bodyPr>
          <a:lstStyle/>
          <a:p>
            <a:pPr algn="l">
              <a:lnSpc>
                <a:spcPts val="2709"/>
              </a:lnSpc>
            </a:pPr>
            <a:r>
              <a:rPr lang="en-US" sz="2258" b="true">
                <a:solidFill>
                  <a:srgbClr val="292B2D"/>
                </a:solidFill>
                <a:latin typeface="Object Sans Bold"/>
                <a:ea typeface="Object Sans Bold"/>
                <a:cs typeface="Object Sans Bold"/>
                <a:sym typeface="Object Sans Bold"/>
              </a:rPr>
              <a:t>COMPETITOR ANALYSIS</a:t>
            </a:r>
          </a:p>
          <a:p>
            <a:pPr algn="l">
              <a:lnSpc>
                <a:spcPts val="2709"/>
              </a:lnSpc>
            </a:pPr>
          </a:p>
        </p:txBody>
      </p:sp>
    </p:spTree>
  </p:cSld>
  <p:clrMapOvr>
    <a:masterClrMapping/>
  </p:clrMapOvr>
  <p:transition spd="slow">
    <p:push dir="d"/>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229837" y="1028700"/>
            <a:ext cx="8542305" cy="664989"/>
          </a:xfrm>
          <a:prstGeom prst="rect">
            <a:avLst/>
          </a:prstGeom>
        </p:spPr>
        <p:txBody>
          <a:bodyPr anchor="t" rtlCol="false" tIns="0" lIns="0" bIns="0" rIns="0">
            <a:spAutoFit/>
          </a:bodyPr>
          <a:lstStyle/>
          <a:p>
            <a:pPr algn="l">
              <a:lnSpc>
                <a:spcPts val="5236"/>
              </a:lnSpc>
            </a:pPr>
            <a:r>
              <a:rPr lang="en-US" b="true" sz="4363" spc="-218">
                <a:solidFill>
                  <a:srgbClr val="292B2D"/>
                </a:solidFill>
                <a:latin typeface="Object Sans Bold"/>
                <a:ea typeface="Object Sans Bold"/>
                <a:cs typeface="Object Sans Bold"/>
                <a:sym typeface="Object Sans Bold"/>
              </a:rPr>
              <a:t>COMPETITOR ANALYSIS</a:t>
            </a:r>
          </a:p>
        </p:txBody>
      </p:sp>
      <p:sp>
        <p:nvSpPr>
          <p:cNvPr name="TextBox 3" id="3"/>
          <p:cNvSpPr txBox="true"/>
          <p:nvPr/>
        </p:nvSpPr>
        <p:spPr>
          <a:xfrm rot="0">
            <a:off x="7673993" y="3429427"/>
            <a:ext cx="9585307" cy="4666615"/>
          </a:xfrm>
          <a:prstGeom prst="rect">
            <a:avLst/>
          </a:prstGeom>
        </p:spPr>
        <p:txBody>
          <a:bodyPr anchor="t" rtlCol="false" tIns="0" lIns="0" bIns="0" rIns="0">
            <a:spAutoFit/>
          </a:bodyPr>
          <a:lstStyle/>
          <a:p>
            <a:pPr algn="just">
              <a:lnSpc>
                <a:spcPts val="2659"/>
              </a:lnSpc>
            </a:pPr>
          </a:p>
          <a:p>
            <a:pPr algn="just" marL="410209" indent="-205105" lvl="1">
              <a:lnSpc>
                <a:spcPts val="2659"/>
              </a:lnSpc>
              <a:buFont typeface="Arial"/>
              <a:buChar char="•"/>
            </a:pPr>
            <a:r>
              <a:rPr lang="en-US" sz="1899">
                <a:solidFill>
                  <a:srgbClr val="292B2D"/>
                </a:solidFill>
                <a:latin typeface="Object Sans"/>
                <a:ea typeface="Object Sans"/>
                <a:cs typeface="Object Sans"/>
                <a:sym typeface="Object Sans"/>
              </a:rPr>
              <a:t>Subspace's current competitor analysis focuses primarily on international subscription management tools. However, the most significant competitive threat comes from CRED Money, which launched in July 2024 and leverages India's Account Aggregator framework.</a:t>
            </a:r>
          </a:p>
          <a:p>
            <a:pPr algn="just" marL="410209" indent="-205105" lvl="1">
              <a:lnSpc>
                <a:spcPts val="2659"/>
              </a:lnSpc>
              <a:buFont typeface="Arial"/>
              <a:buChar char="•"/>
            </a:pPr>
            <a:r>
              <a:rPr lang="en-US" sz="1899">
                <a:solidFill>
                  <a:srgbClr val="292B2D"/>
                </a:solidFill>
                <a:latin typeface="Object Sans"/>
                <a:ea typeface="Object Sans"/>
                <a:cs typeface="Object Sans"/>
                <a:sym typeface="Object Sans"/>
              </a:rPr>
              <a:t>CRED Money automatically identifies recurring transactions across connected bank accounts, eliminating the need for manual subscription tracking. With millions </a:t>
            </a:r>
            <a:r>
              <a:rPr lang="en-US" sz="1899">
                <a:solidFill>
                  <a:srgbClr val="292B2D"/>
                </a:solidFill>
                <a:latin typeface="Object Sans"/>
                <a:ea typeface="Object Sans"/>
                <a:cs typeface="Object Sans"/>
                <a:sym typeface="Object Sans"/>
              </a:rPr>
              <a:t>of active users and free access, it directly competes for the same customer segment targeted by Subspace.</a:t>
            </a:r>
          </a:p>
          <a:p>
            <a:pPr algn="just" marL="410209" indent="-205105" lvl="1">
              <a:lnSpc>
                <a:spcPts val="2659"/>
              </a:lnSpc>
              <a:buFont typeface="Arial"/>
              <a:buChar char="•"/>
            </a:pPr>
            <a:r>
              <a:rPr lang="en-US" sz="1899">
                <a:solidFill>
                  <a:srgbClr val="292B2D"/>
                </a:solidFill>
                <a:latin typeface="Object Sans"/>
                <a:ea typeface="Object Sans"/>
                <a:cs typeface="Object Sans"/>
                <a:sym typeface="Object Sans"/>
              </a:rPr>
              <a:t>This suggests that subscription tracking alone is no longer a sustainable differentiator. Instead, Subspace should position itself around helping users reduce subscription costs through negotiation and optimization. A more focused positioning strategy could help the company avoid competing directly against larger financial platforms.</a:t>
            </a:r>
          </a:p>
        </p:txBody>
      </p:sp>
      <p:sp>
        <p:nvSpPr>
          <p:cNvPr name="TextBox 4" id="4"/>
          <p:cNvSpPr txBox="true"/>
          <p:nvPr/>
        </p:nvSpPr>
        <p:spPr>
          <a:xfrm rot="0">
            <a:off x="7673993" y="2162602"/>
            <a:ext cx="10018704" cy="1314450"/>
          </a:xfrm>
          <a:prstGeom prst="rect">
            <a:avLst/>
          </a:prstGeom>
        </p:spPr>
        <p:txBody>
          <a:bodyPr anchor="t" rtlCol="false" tIns="0" lIns="0" bIns="0" rIns="0">
            <a:spAutoFit/>
          </a:bodyPr>
          <a:lstStyle/>
          <a:p>
            <a:pPr algn="l" marL="0" indent="0" lvl="0">
              <a:lnSpc>
                <a:spcPts val="5236"/>
              </a:lnSpc>
              <a:spcBef>
                <a:spcPct val="0"/>
              </a:spcBef>
            </a:pPr>
            <a:r>
              <a:rPr lang="en-US" b="true" sz="4363" spc="-218" strike="noStrike" u="none">
                <a:solidFill>
                  <a:srgbClr val="292B2D"/>
                </a:solidFill>
                <a:latin typeface="Object Sans Bold"/>
                <a:ea typeface="Object Sans Bold"/>
                <a:cs typeface="Object Sans Bold"/>
                <a:sym typeface="Object Sans Bold"/>
              </a:rPr>
              <a:t>THE MISSING COMPETITIVE THREAT: CRED MONEY</a:t>
            </a:r>
          </a:p>
        </p:txBody>
      </p:sp>
      <p:sp>
        <p:nvSpPr>
          <p:cNvPr name="Freeform 5" id="5"/>
          <p:cNvSpPr/>
          <p:nvPr/>
        </p:nvSpPr>
        <p:spPr>
          <a:xfrm flipH="false" flipV="false" rot="0">
            <a:off x="0" y="4961088"/>
            <a:ext cx="5329544" cy="5874247"/>
          </a:xfrm>
          <a:custGeom>
            <a:avLst/>
            <a:gdLst/>
            <a:ahLst/>
            <a:cxnLst/>
            <a:rect r="r" b="b" t="t" l="l"/>
            <a:pathLst>
              <a:path h="5874247" w="5329544">
                <a:moveTo>
                  <a:pt x="0" y="0"/>
                </a:moveTo>
                <a:lnTo>
                  <a:pt x="5329544" y="0"/>
                </a:lnTo>
                <a:lnTo>
                  <a:pt x="5329544" y="5874247"/>
                </a:lnTo>
                <a:lnTo>
                  <a:pt x="0" y="58742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push dir="d"/>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7498174" y="4762927"/>
            <a:ext cx="9585307" cy="3333115"/>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292B2D"/>
                </a:solidFill>
                <a:latin typeface="Object Sans"/>
                <a:ea typeface="Object Sans"/>
                <a:cs typeface="Object Sans"/>
                <a:sym typeface="Object Sans"/>
              </a:rPr>
              <a:t>The </a:t>
            </a:r>
            <a:r>
              <a:rPr lang="en-US" sz="1899">
                <a:solidFill>
                  <a:srgbClr val="292B2D"/>
                </a:solidFill>
                <a:latin typeface="Object Sans"/>
                <a:ea typeface="Object Sans"/>
                <a:cs typeface="Object Sans"/>
                <a:sym typeface="Object Sans"/>
              </a:rPr>
              <a:t>sharing marketplace currently supports three different sharing mechanisms. Some subscriptions provide shared account credentials, others use official platform invitations, and some offer dedicated profile creation.</a:t>
            </a:r>
          </a:p>
          <a:p>
            <a:pPr algn="l" marL="410209" indent="-205105" lvl="1">
              <a:lnSpc>
                <a:spcPts val="2659"/>
              </a:lnSpc>
              <a:buFont typeface="Arial"/>
              <a:buChar char="•"/>
            </a:pPr>
            <a:r>
              <a:rPr lang="en-US" sz="1899">
                <a:solidFill>
                  <a:srgbClr val="292B2D"/>
                </a:solidFill>
                <a:latin typeface="Object Sans"/>
                <a:ea typeface="Object Sans"/>
                <a:cs typeface="Object Sans"/>
                <a:sym typeface="Object Sans"/>
              </a:rPr>
              <a:t>The challenge is that buyers often do not know which sharing method applies until</a:t>
            </a:r>
            <a:r>
              <a:rPr lang="en-US" sz="1899">
                <a:solidFill>
                  <a:srgbClr val="292B2D"/>
                </a:solidFill>
                <a:latin typeface="Object Sans"/>
                <a:ea typeface="Object Sans"/>
                <a:cs typeface="Object Sans"/>
                <a:sym typeface="Object Sans"/>
              </a:rPr>
              <a:t> after purchase. This can create confusion, unmet expectations, and customer dissatisfaction.</a:t>
            </a:r>
          </a:p>
          <a:p>
            <a:pPr algn="l" marL="410209" indent="-205105" lvl="1">
              <a:lnSpc>
                <a:spcPts val="2659"/>
              </a:lnSpc>
              <a:buFont typeface="Arial"/>
              <a:buChar char="•"/>
            </a:pPr>
            <a:r>
              <a:rPr lang="en-US" sz="1899">
                <a:solidFill>
                  <a:srgbClr val="292B2D"/>
                </a:solidFill>
                <a:latin typeface="Object Sans"/>
                <a:ea typeface="Object Sans"/>
                <a:cs typeface="Object Sans"/>
                <a:sym typeface="Object Sans"/>
              </a:rPr>
              <a:t>Introducing standardized labels that clearly explain the sharing method before purchase would improve transparency and reduce support issues. Such a change would strengthen customer trust while helping users make more informed purchasing decisions.</a:t>
            </a:r>
          </a:p>
        </p:txBody>
      </p:sp>
      <p:sp>
        <p:nvSpPr>
          <p:cNvPr name="TextBox 3" id="3"/>
          <p:cNvSpPr txBox="true"/>
          <p:nvPr/>
        </p:nvSpPr>
        <p:spPr>
          <a:xfrm rot="0">
            <a:off x="7498174" y="3387733"/>
            <a:ext cx="9360486" cy="1179456"/>
          </a:xfrm>
          <a:prstGeom prst="rect">
            <a:avLst/>
          </a:prstGeom>
        </p:spPr>
        <p:txBody>
          <a:bodyPr anchor="t" rtlCol="false" tIns="0" lIns="0" bIns="0" rIns="0">
            <a:spAutoFit/>
          </a:bodyPr>
          <a:lstStyle/>
          <a:p>
            <a:pPr algn="l" marL="0" indent="0" lvl="0">
              <a:lnSpc>
                <a:spcPts val="4660"/>
              </a:lnSpc>
              <a:spcBef>
                <a:spcPct val="0"/>
              </a:spcBef>
            </a:pPr>
            <a:r>
              <a:rPr lang="en-US" b="true" sz="3883" spc="-194">
                <a:solidFill>
                  <a:srgbClr val="292B2D"/>
                </a:solidFill>
                <a:latin typeface="Object Sans Bold"/>
                <a:ea typeface="Object Sans Bold"/>
                <a:cs typeface="Object Sans Bold"/>
                <a:sym typeface="Object Sans Bold"/>
              </a:rPr>
              <a:t>LACK OF TRANSPARENCY CREATES TRUST ISSUES</a:t>
            </a:r>
          </a:p>
        </p:txBody>
      </p:sp>
      <p:sp>
        <p:nvSpPr>
          <p:cNvPr name="TextBox 4" id="4"/>
          <p:cNvSpPr txBox="true"/>
          <p:nvPr/>
        </p:nvSpPr>
        <p:spPr>
          <a:xfrm rot="0">
            <a:off x="229837" y="1019175"/>
            <a:ext cx="9134339" cy="625874"/>
          </a:xfrm>
          <a:prstGeom prst="rect">
            <a:avLst/>
          </a:prstGeom>
        </p:spPr>
        <p:txBody>
          <a:bodyPr anchor="t" rtlCol="false" tIns="0" lIns="0" bIns="0" rIns="0">
            <a:spAutoFit/>
          </a:bodyPr>
          <a:lstStyle/>
          <a:p>
            <a:pPr algn="l">
              <a:lnSpc>
                <a:spcPts val="4853"/>
              </a:lnSpc>
            </a:pPr>
            <a:r>
              <a:rPr lang="en-US" b="true" sz="4044" spc="-202">
                <a:solidFill>
                  <a:srgbClr val="292B2D"/>
                </a:solidFill>
                <a:latin typeface="Object Sans Bold"/>
                <a:ea typeface="Object Sans Bold"/>
                <a:cs typeface="Object Sans Bold"/>
                <a:sym typeface="Object Sans Bold"/>
              </a:rPr>
              <a:t>SUBSCRIPTION SHARING MODELS</a:t>
            </a:r>
          </a:p>
        </p:txBody>
      </p:sp>
      <p:sp>
        <p:nvSpPr>
          <p:cNvPr name="Freeform 5" id="5"/>
          <p:cNvSpPr/>
          <p:nvPr/>
        </p:nvSpPr>
        <p:spPr>
          <a:xfrm flipH="false" flipV="false" rot="0">
            <a:off x="229837" y="5143500"/>
            <a:ext cx="6482124" cy="5513657"/>
          </a:xfrm>
          <a:custGeom>
            <a:avLst/>
            <a:gdLst/>
            <a:ahLst/>
            <a:cxnLst/>
            <a:rect r="r" b="b" t="t" l="l"/>
            <a:pathLst>
              <a:path h="5513657" w="6482124">
                <a:moveTo>
                  <a:pt x="0" y="0"/>
                </a:moveTo>
                <a:lnTo>
                  <a:pt x="6482124" y="0"/>
                </a:lnTo>
                <a:lnTo>
                  <a:pt x="6482124" y="5513657"/>
                </a:lnTo>
                <a:lnTo>
                  <a:pt x="0" y="55136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push dir="d"/>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7342057" y="4328171"/>
            <a:ext cx="9585307" cy="3666490"/>
          </a:xfrm>
          <a:prstGeom prst="rect">
            <a:avLst/>
          </a:prstGeom>
        </p:spPr>
        <p:txBody>
          <a:bodyPr anchor="t" rtlCol="false" tIns="0" lIns="0" bIns="0" rIns="0">
            <a:spAutoFit/>
          </a:bodyPr>
          <a:lstStyle/>
          <a:p>
            <a:pPr algn="just" marL="410209" indent="-205105" lvl="1">
              <a:lnSpc>
                <a:spcPts val="2659"/>
              </a:lnSpc>
              <a:buFont typeface="Arial"/>
              <a:buChar char="•"/>
            </a:pPr>
            <a:r>
              <a:rPr lang="en-US" sz="1899">
                <a:solidFill>
                  <a:srgbClr val="292B2D"/>
                </a:solidFill>
                <a:latin typeface="Object Sans"/>
                <a:ea typeface="Object Sans"/>
                <a:cs typeface="Object Sans"/>
                <a:sym typeface="Object Sans"/>
              </a:rPr>
              <a:t>The Negotiate API is positioned as one of Subspace's primary competitive advantages. However, its current implementation relies heavily on users manually initiating negotiations.</a:t>
            </a:r>
          </a:p>
          <a:p>
            <a:pPr algn="just" marL="410209" indent="-205105" lvl="1">
              <a:lnSpc>
                <a:spcPts val="2659"/>
              </a:lnSpc>
              <a:buFont typeface="Arial"/>
              <a:buChar char="•"/>
            </a:pPr>
            <a:r>
              <a:rPr lang="en-US" sz="1899">
                <a:solidFill>
                  <a:srgbClr val="292B2D"/>
                </a:solidFill>
                <a:latin typeface="Object Sans"/>
                <a:ea typeface="Object Sans"/>
                <a:cs typeface="Object Sans"/>
                <a:sym typeface="Object Sans"/>
              </a:rPr>
              <a:t>With</a:t>
            </a:r>
            <a:r>
              <a:rPr lang="en-US" sz="1899">
                <a:solidFill>
                  <a:srgbClr val="292B2D"/>
                </a:solidFill>
                <a:latin typeface="Object Sans"/>
                <a:ea typeface="Object Sans"/>
                <a:cs typeface="Object Sans"/>
                <a:sym typeface="Object Sans"/>
              </a:rPr>
              <a:t>out proactive renewal tracking, automated reminders, or integrated billing calendars, users must remember to take action themselves. This limits the feature's effectiveness and weakens its competitive advantage.</a:t>
            </a:r>
          </a:p>
          <a:p>
            <a:pPr algn="just" marL="410209" indent="-205105" lvl="1">
              <a:lnSpc>
                <a:spcPts val="2659"/>
              </a:lnSpc>
              <a:buFont typeface="Arial"/>
              <a:buChar char="•"/>
            </a:pPr>
            <a:r>
              <a:rPr lang="en-US" sz="1899">
                <a:solidFill>
                  <a:srgbClr val="292B2D"/>
                </a:solidFill>
                <a:latin typeface="Object Sans"/>
                <a:ea typeface="Object Sans"/>
                <a:cs typeface="Object Sans"/>
                <a:sym typeface="Object Sans"/>
              </a:rPr>
              <a:t>A str</a:t>
            </a:r>
            <a:r>
              <a:rPr lang="en-US" sz="1899">
                <a:solidFill>
                  <a:srgbClr val="292B2D"/>
                </a:solidFill>
                <a:latin typeface="Object Sans"/>
                <a:ea typeface="Object Sans"/>
                <a:cs typeface="Object Sans"/>
                <a:sym typeface="Object Sans"/>
              </a:rPr>
              <a:t>onger approach would involve creating automated renewal alerts, subscription calendars, and proactive negotiation workflows. By helping users act before renewals occur, the platform could deliver greater savings while creating a more defensible product offering.</a:t>
            </a:r>
          </a:p>
          <a:p>
            <a:pPr algn="just">
              <a:lnSpc>
                <a:spcPts val="2659"/>
              </a:lnSpc>
            </a:pPr>
          </a:p>
        </p:txBody>
      </p:sp>
      <p:sp>
        <p:nvSpPr>
          <p:cNvPr name="TextBox 3" id="3"/>
          <p:cNvSpPr txBox="true"/>
          <p:nvPr/>
        </p:nvSpPr>
        <p:spPr>
          <a:xfrm rot="0">
            <a:off x="7342057" y="3138518"/>
            <a:ext cx="9585307" cy="994834"/>
          </a:xfrm>
          <a:prstGeom prst="rect">
            <a:avLst/>
          </a:prstGeom>
        </p:spPr>
        <p:txBody>
          <a:bodyPr anchor="t" rtlCol="false" tIns="0" lIns="0" bIns="0" rIns="0">
            <a:spAutoFit/>
          </a:bodyPr>
          <a:lstStyle/>
          <a:p>
            <a:pPr algn="l">
              <a:lnSpc>
                <a:spcPts val="3879"/>
              </a:lnSpc>
            </a:pPr>
            <a:r>
              <a:rPr lang="en-US" sz="3232" b="true">
                <a:solidFill>
                  <a:srgbClr val="292B2D"/>
                </a:solidFill>
                <a:latin typeface="Object Sans Bold"/>
                <a:ea typeface="Object Sans Bold"/>
                <a:cs typeface="Object Sans Bold"/>
                <a:sym typeface="Object Sans Bold"/>
              </a:rPr>
              <a:t>A STRONG VISION WITH LIMITED AUTOMATION</a:t>
            </a:r>
          </a:p>
        </p:txBody>
      </p:sp>
      <p:sp>
        <p:nvSpPr>
          <p:cNvPr name="Freeform 4" id="4"/>
          <p:cNvSpPr/>
          <p:nvPr/>
        </p:nvSpPr>
        <p:spPr>
          <a:xfrm flipH="false" flipV="false" rot="0">
            <a:off x="-911676" y="5027058"/>
            <a:ext cx="6833771" cy="6137969"/>
          </a:xfrm>
          <a:custGeom>
            <a:avLst/>
            <a:gdLst/>
            <a:ahLst/>
            <a:cxnLst/>
            <a:rect r="r" b="b" t="t" l="l"/>
            <a:pathLst>
              <a:path h="6137969" w="6833771">
                <a:moveTo>
                  <a:pt x="0" y="0"/>
                </a:moveTo>
                <a:lnTo>
                  <a:pt x="6833770" y="0"/>
                </a:lnTo>
                <a:lnTo>
                  <a:pt x="6833770" y="6137968"/>
                </a:lnTo>
                <a:lnTo>
                  <a:pt x="0" y="61379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229837" y="1019175"/>
            <a:ext cx="7701040" cy="609024"/>
          </a:xfrm>
          <a:prstGeom prst="rect">
            <a:avLst/>
          </a:prstGeom>
        </p:spPr>
        <p:txBody>
          <a:bodyPr anchor="t" rtlCol="false" tIns="0" lIns="0" bIns="0" rIns="0">
            <a:spAutoFit/>
          </a:bodyPr>
          <a:lstStyle/>
          <a:p>
            <a:pPr algn="l">
              <a:lnSpc>
                <a:spcPts val="4720"/>
              </a:lnSpc>
            </a:pPr>
            <a:r>
              <a:rPr lang="en-US" b="true" sz="3933" spc="-196">
                <a:solidFill>
                  <a:srgbClr val="292B2D"/>
                </a:solidFill>
                <a:latin typeface="Object Sans Bold"/>
                <a:ea typeface="Object Sans Bold"/>
                <a:cs typeface="Object Sans Bold"/>
                <a:sym typeface="Object Sans Bold"/>
              </a:rPr>
              <a:t>THE NEGOTIATE API</a:t>
            </a:r>
          </a:p>
        </p:txBody>
      </p:sp>
    </p:spTree>
  </p:cSld>
  <p:clrMapOvr>
    <a:masterClrMapping/>
  </p:clrMapOvr>
  <p:transition spd="slow">
    <p:push dir="d"/>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7325828" y="4096177"/>
            <a:ext cx="9585307" cy="3999865"/>
          </a:xfrm>
          <a:prstGeom prst="rect">
            <a:avLst/>
          </a:prstGeom>
        </p:spPr>
        <p:txBody>
          <a:bodyPr anchor="t" rtlCol="false" tIns="0" lIns="0" bIns="0" rIns="0">
            <a:spAutoFit/>
          </a:bodyPr>
          <a:lstStyle/>
          <a:p>
            <a:pPr algn="just" marL="410209" indent="-205105" lvl="1">
              <a:lnSpc>
                <a:spcPts val="2659"/>
              </a:lnSpc>
              <a:buFont typeface="Arial"/>
              <a:buChar char="•"/>
            </a:pPr>
            <a:r>
              <a:rPr lang="en-US" sz="1899">
                <a:solidFill>
                  <a:srgbClr val="292B2D"/>
                </a:solidFill>
                <a:latin typeface="Object Sans"/>
                <a:ea typeface="Object Sans"/>
                <a:cs typeface="Object Sans"/>
                <a:sym typeface="Object Sans"/>
              </a:rPr>
              <a:t>Subspace already produces content targeted at students, covering popular products such as Canva, Grammarly, Microsoft 365, and Duolingo. However, these efforts currently exist primarily within the content strategy rather than the product experience.</a:t>
            </a:r>
          </a:p>
          <a:p>
            <a:pPr algn="just" marL="410209" indent="-205105" lvl="1">
              <a:lnSpc>
                <a:spcPts val="2659"/>
              </a:lnSpc>
              <a:buFont typeface="Arial"/>
              <a:buChar char="•"/>
            </a:pPr>
            <a:r>
              <a:rPr lang="en-US" sz="1899">
                <a:solidFill>
                  <a:srgbClr val="292B2D"/>
                </a:solidFill>
                <a:latin typeface="Object Sans"/>
                <a:ea typeface="Object Sans"/>
                <a:cs typeface="Object Sans"/>
                <a:sym typeface="Object Sans"/>
              </a:rPr>
              <a:t>St</a:t>
            </a:r>
            <a:r>
              <a:rPr lang="en-US" sz="1899">
                <a:solidFill>
                  <a:srgbClr val="292B2D"/>
                </a:solidFill>
                <a:latin typeface="Object Sans"/>
                <a:ea typeface="Object Sans"/>
                <a:cs typeface="Object Sans"/>
                <a:sym typeface="Object Sans"/>
              </a:rPr>
              <a:t>udents represent an attractive customer segment because they are highly price-sensitive, frequently share subscriptions with peers, and possess strong referral networks within campuses and hostels.</a:t>
            </a:r>
          </a:p>
          <a:p>
            <a:pPr algn="just" marL="410209" indent="-205105" lvl="1">
              <a:lnSpc>
                <a:spcPts val="2659"/>
              </a:lnSpc>
              <a:buFont typeface="Arial"/>
              <a:buChar char="•"/>
            </a:pPr>
            <a:r>
              <a:rPr lang="en-US" sz="1899">
                <a:solidFill>
                  <a:srgbClr val="292B2D"/>
                </a:solidFill>
                <a:latin typeface="Object Sans"/>
                <a:ea typeface="Object Sans"/>
                <a:cs typeface="Object Sans"/>
                <a:sym typeface="Object Sans"/>
              </a:rPr>
              <a:t>P</a:t>
            </a:r>
            <a:r>
              <a:rPr lang="en-US" sz="1899">
                <a:solidFill>
                  <a:srgbClr val="292B2D"/>
                </a:solidFill>
                <a:latin typeface="Object Sans"/>
                <a:ea typeface="Object Sans"/>
                <a:cs typeface="Object Sans"/>
                <a:sym typeface="Object Sans"/>
              </a:rPr>
              <a:t>otential initiatives include student verification programs, campus ambassador networks, referral incentives, and dedicated student subscription plans. These initiatives could significantly improve customer acquisition while building long-term user relationships.</a:t>
            </a:r>
          </a:p>
          <a:p>
            <a:pPr algn="just">
              <a:lnSpc>
                <a:spcPts val="2659"/>
              </a:lnSpc>
            </a:pPr>
          </a:p>
        </p:txBody>
      </p:sp>
      <p:sp>
        <p:nvSpPr>
          <p:cNvPr name="TextBox 3" id="3"/>
          <p:cNvSpPr txBox="true"/>
          <p:nvPr/>
        </p:nvSpPr>
        <p:spPr>
          <a:xfrm rot="0">
            <a:off x="7325828" y="2909320"/>
            <a:ext cx="10505879" cy="457200"/>
          </a:xfrm>
          <a:prstGeom prst="rect">
            <a:avLst/>
          </a:prstGeom>
        </p:spPr>
        <p:txBody>
          <a:bodyPr anchor="t" rtlCol="false" tIns="0" lIns="0" bIns="0" rIns="0">
            <a:spAutoFit/>
          </a:bodyPr>
          <a:lstStyle/>
          <a:p>
            <a:pPr algn="l">
              <a:lnSpc>
                <a:spcPts val="3599"/>
              </a:lnSpc>
            </a:pPr>
            <a:r>
              <a:rPr lang="en-US" sz="2999" b="true">
                <a:solidFill>
                  <a:srgbClr val="292B2D"/>
                </a:solidFill>
                <a:latin typeface="Object Sans Bold"/>
                <a:ea typeface="Object Sans Bold"/>
                <a:cs typeface="Object Sans Bold"/>
                <a:sym typeface="Object Sans Bold"/>
              </a:rPr>
              <a:t>A HIGH-POTENTIAL CUSTOMER SEGMENT</a:t>
            </a:r>
          </a:p>
        </p:txBody>
      </p:sp>
      <p:sp>
        <p:nvSpPr>
          <p:cNvPr name="Freeform 4" id="4"/>
          <p:cNvSpPr/>
          <p:nvPr/>
        </p:nvSpPr>
        <p:spPr>
          <a:xfrm flipH="false" flipV="false" rot="0">
            <a:off x="-911676" y="5027058"/>
            <a:ext cx="6833771" cy="6137969"/>
          </a:xfrm>
          <a:custGeom>
            <a:avLst/>
            <a:gdLst/>
            <a:ahLst/>
            <a:cxnLst/>
            <a:rect r="r" b="b" t="t" l="l"/>
            <a:pathLst>
              <a:path h="6137969" w="6833771">
                <a:moveTo>
                  <a:pt x="0" y="0"/>
                </a:moveTo>
                <a:lnTo>
                  <a:pt x="6833770" y="0"/>
                </a:lnTo>
                <a:lnTo>
                  <a:pt x="6833770" y="6137968"/>
                </a:lnTo>
                <a:lnTo>
                  <a:pt x="0" y="61379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426049" y="789099"/>
            <a:ext cx="6745613" cy="479202"/>
          </a:xfrm>
          <a:prstGeom prst="rect">
            <a:avLst/>
          </a:prstGeom>
        </p:spPr>
        <p:txBody>
          <a:bodyPr anchor="t" rtlCol="false" tIns="0" lIns="0" bIns="0" rIns="0">
            <a:spAutoFit/>
          </a:bodyPr>
          <a:lstStyle/>
          <a:p>
            <a:pPr algn="l">
              <a:lnSpc>
                <a:spcPts val="3773"/>
              </a:lnSpc>
            </a:pPr>
            <a:r>
              <a:rPr lang="en-US" b="true" sz="3144" spc="-157">
                <a:solidFill>
                  <a:srgbClr val="292B2D"/>
                </a:solidFill>
                <a:latin typeface="Object Sans Bold"/>
                <a:ea typeface="Object Sans Bold"/>
                <a:cs typeface="Object Sans Bold"/>
                <a:sym typeface="Object Sans Bold"/>
              </a:rPr>
              <a:t>STUDENT MARKET OPPORTUNITY</a:t>
            </a:r>
          </a:p>
        </p:txBody>
      </p:sp>
    </p:spTree>
  </p:cSld>
  <p:clrMapOvr>
    <a:masterClrMapping/>
  </p:clrMapOvr>
  <p:transition spd="slow">
    <p:push dir="d"/>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false" rot="0">
            <a:off x="393945" y="6172200"/>
            <a:ext cx="4656667" cy="4114800"/>
          </a:xfrm>
          <a:custGeom>
            <a:avLst/>
            <a:gdLst/>
            <a:ahLst/>
            <a:cxnLst/>
            <a:rect r="r" b="b" t="t" l="l"/>
            <a:pathLst>
              <a:path h="4114800" w="4656667">
                <a:moveTo>
                  <a:pt x="0" y="0"/>
                </a:moveTo>
                <a:lnTo>
                  <a:pt x="4656666" y="0"/>
                </a:lnTo>
                <a:lnTo>
                  <a:pt x="465666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5265405" y="907993"/>
          <a:ext cx="12507538" cy="9290685"/>
        </p:xfrm>
        <a:graphic>
          <a:graphicData uri="http://schemas.openxmlformats.org/drawingml/2006/table">
            <a:tbl>
              <a:tblPr/>
              <a:tblGrid>
                <a:gridCol w="3362551"/>
                <a:gridCol w="3721142"/>
                <a:gridCol w="5423845"/>
              </a:tblGrid>
              <a:tr h="952891">
                <a:tc>
                  <a:txBody>
                    <a:bodyPr anchor="t" rtlCol="false"/>
                    <a:lstStyle/>
                    <a:p>
                      <a:pPr algn="ctr">
                        <a:lnSpc>
                          <a:spcPts val="1960"/>
                        </a:lnSpc>
                        <a:defRPr/>
                      </a:pPr>
                      <a:r>
                        <a:rPr lang="en-US" sz="1400">
                          <a:solidFill>
                            <a:srgbClr val="000000"/>
                          </a:solidFill>
                          <a:latin typeface="Object Sans"/>
                          <a:ea typeface="Object Sans"/>
                          <a:cs typeface="Object Sans"/>
                          <a:sym typeface="Object Sans"/>
                        </a:rPr>
                        <a:t>Dimen</a:t>
                      </a:r>
                      <a:r>
                        <a:rPr lang="en-US" sz="1400">
                          <a:solidFill>
                            <a:srgbClr val="000000"/>
                          </a:solidFill>
                          <a:latin typeface="Object Sans"/>
                          <a:ea typeface="Object Sans"/>
                          <a:cs typeface="Object Sans"/>
                          <a:sym typeface="Object Sans"/>
                        </a:rPr>
                        <a:t>sion</a:t>
                      </a:r>
                      <a:endParaRPr lang="en-US" sz="1100"/>
                    </a:p>
                    <a:p>
                      <a:pPr algn="ctr">
                        <a:lnSpc>
                          <a:spcPts val="1960"/>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ctr">
                        <a:lnSpc>
                          <a:spcPts val="1960"/>
                        </a:lnSpc>
                        <a:defRPr/>
                      </a:pPr>
                      <a:r>
                        <a:rPr lang="en-US" sz="1400">
                          <a:solidFill>
                            <a:srgbClr val="000000"/>
                          </a:solidFill>
                          <a:latin typeface="Object Sans"/>
                          <a:ea typeface="Object Sans"/>
                          <a:cs typeface="Object Sans"/>
                          <a:sym typeface="Object Sans"/>
                        </a:rPr>
                        <a:t>CRED Mon</a:t>
                      </a:r>
                      <a:r>
                        <a:rPr lang="en-US" sz="1400">
                          <a:solidFill>
                            <a:srgbClr val="000000"/>
                          </a:solidFill>
                          <a:latin typeface="Object Sans"/>
                          <a:ea typeface="Object Sans"/>
                          <a:cs typeface="Object Sans"/>
                          <a:sym typeface="Object Sans"/>
                        </a:rPr>
                        <a:t>ey</a:t>
                      </a:r>
                      <a:endParaRPr lang="en-US" sz="1100"/>
                    </a:p>
                    <a:p>
                      <a:pPr algn="ctr">
                        <a:lnSpc>
                          <a:spcPts val="1960"/>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ctr">
                        <a:lnSpc>
                          <a:spcPts val="1960"/>
                        </a:lnSpc>
                        <a:defRPr/>
                      </a:pPr>
                      <a:r>
                        <a:rPr lang="en-US" sz="1400">
                          <a:solidFill>
                            <a:srgbClr val="000000"/>
                          </a:solidFill>
                          <a:latin typeface="Object Sans"/>
                          <a:ea typeface="Object Sans"/>
                          <a:cs typeface="Object Sans"/>
                          <a:sym typeface="Object Sans"/>
                        </a:rPr>
                        <a:t>Subspac</a:t>
                      </a:r>
                      <a:r>
                        <a:rPr lang="en-US" sz="1400">
                          <a:solidFill>
                            <a:srgbClr val="000000"/>
                          </a:solidFill>
                          <a:latin typeface="Object Sans"/>
                          <a:ea typeface="Object Sans"/>
                          <a:cs typeface="Object Sans"/>
                          <a:sym typeface="Object Sans"/>
                        </a:rPr>
                        <a:t>e.money</a:t>
                      </a:r>
                      <a:endParaRPr lang="en-US" sz="1100"/>
                    </a:p>
                    <a:p>
                      <a:pPr algn="ctr">
                        <a:lnSpc>
                          <a:spcPts val="1960"/>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r>
              <a:tr h="1476981">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Sub</a:t>
                      </a:r>
                      <a:r>
                        <a:rPr lang="en-US" sz="1899" b="true">
                          <a:solidFill>
                            <a:srgbClr val="000000"/>
                          </a:solidFill>
                          <a:latin typeface="Object Sans Bold"/>
                          <a:ea typeface="Object Sans Bold"/>
                          <a:cs typeface="Object Sans Bold"/>
                          <a:sym typeface="Object Sans Bold"/>
                        </a:rPr>
                        <a:t>scription detection</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Automatic via Acc</a:t>
                      </a:r>
                      <a:r>
                        <a:rPr lang="en-US" sz="1899" b="true">
                          <a:solidFill>
                            <a:srgbClr val="000000"/>
                          </a:solidFill>
                          <a:latin typeface="Object Sans Bold"/>
                          <a:ea typeface="Object Sans Bold"/>
                          <a:cs typeface="Object Sans Bold"/>
                          <a:sym typeface="Object Sans Bold"/>
                        </a:rPr>
                        <a:t>ount Aggregator</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Ma</a:t>
                      </a:r>
                      <a:r>
                        <a:rPr lang="en-US" sz="1899" b="true">
                          <a:solidFill>
                            <a:srgbClr val="000000"/>
                          </a:solidFill>
                          <a:latin typeface="Object Sans Bold"/>
                          <a:ea typeface="Object Sans Bold"/>
                          <a:cs typeface="Object Sans Bold"/>
                          <a:sym typeface="Object Sans Bold"/>
                        </a:rPr>
                        <a:t>nual entry or marketplace</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r>
              <a:tr h="1143469">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Ac</a:t>
                      </a:r>
                      <a:r>
                        <a:rPr lang="en-US" sz="1899" b="true">
                          <a:solidFill>
                            <a:srgbClr val="000000"/>
                          </a:solidFill>
                          <a:latin typeface="Object Sans Bold"/>
                          <a:ea typeface="Object Sans Bold"/>
                          <a:cs typeface="Object Sans Bold"/>
                          <a:sym typeface="Object Sans Bold"/>
                        </a:rPr>
                        <a:t>tive users</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12</a:t>
                      </a:r>
                      <a:r>
                        <a:rPr lang="en-US" sz="1899" b="true">
                          <a:solidFill>
                            <a:srgbClr val="000000"/>
                          </a:solidFill>
                          <a:latin typeface="Object Sans Bold"/>
                          <a:ea typeface="Object Sans Bold"/>
                          <a:cs typeface="Object Sans Bold"/>
                          <a:sym typeface="Object Sans Bold"/>
                        </a:rPr>
                        <a:t>M+ (urban, creditworty)</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U</a:t>
                      </a:r>
                      <a:r>
                        <a:rPr lang="en-US" sz="1899" b="true">
                          <a:solidFill>
                            <a:srgbClr val="000000"/>
                          </a:solidFill>
                          <a:latin typeface="Object Sans Bold"/>
                          <a:ea typeface="Object Sans Bold"/>
                          <a:cs typeface="Object Sans Bold"/>
                          <a:sym typeface="Object Sans Bold"/>
                        </a:rPr>
                        <a:t>ndisclosed</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r>
              <a:tr h="1143469">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Price to user</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Free </a:t>
                      </a:r>
                      <a:r>
                        <a:rPr lang="en-US" sz="1899" b="true">
                          <a:solidFill>
                            <a:srgbClr val="000000"/>
                          </a:solidFill>
                          <a:latin typeface="Object Sans Bold"/>
                          <a:ea typeface="Object Sans Bold"/>
                          <a:cs typeface="Object Sans Bold"/>
                          <a:sym typeface="Object Sans Bold"/>
                        </a:rPr>
                        <a:t>strategic decision</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P</a:t>
                      </a:r>
                      <a:r>
                        <a:rPr lang="en-US" sz="1899" b="true">
                          <a:solidFill>
                            <a:srgbClr val="000000"/>
                          </a:solidFill>
                          <a:latin typeface="Object Sans Bold"/>
                          <a:ea typeface="Object Sans Bold"/>
                          <a:cs typeface="Object Sans Bold"/>
                          <a:sym typeface="Object Sans Bold"/>
                        </a:rPr>
                        <a:t>aid subscriptions</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r>
              <a:tr h="1143469">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P</a:t>
                      </a:r>
                      <a:r>
                        <a:rPr lang="en-US" sz="1899" b="true">
                          <a:solidFill>
                            <a:srgbClr val="000000"/>
                          </a:solidFill>
                          <a:latin typeface="Object Sans Bold"/>
                          <a:ea typeface="Object Sans Bold"/>
                          <a:cs typeface="Object Sans Bold"/>
                          <a:sym typeface="Object Sans Bold"/>
                        </a:rPr>
                        <a:t>rice negotiation</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N</a:t>
                      </a:r>
                      <a:r>
                        <a:rPr lang="en-US" sz="1899" b="true">
                          <a:solidFill>
                            <a:srgbClr val="000000"/>
                          </a:solidFill>
                          <a:latin typeface="Object Sans Bold"/>
                          <a:ea typeface="Object Sans Bold"/>
                          <a:cs typeface="Object Sans Bold"/>
                          <a:sym typeface="Object Sans Bold"/>
                        </a:rPr>
                        <a:t>ot offered</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N</a:t>
                      </a:r>
                      <a:r>
                        <a:rPr lang="en-US" sz="1899" b="true">
                          <a:solidFill>
                            <a:srgbClr val="000000"/>
                          </a:solidFill>
                          <a:latin typeface="Object Sans Bold"/>
                          <a:ea typeface="Object Sans Bold"/>
                          <a:cs typeface="Object Sans Bold"/>
                          <a:sym typeface="Object Sans Bold"/>
                        </a:rPr>
                        <a:t>egotiate API (core moat)</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r>
              <a:tr h="1143469">
                <a:tc>
                  <a:txBody>
                    <a:bodyPr anchor="t" rtlCol="false"/>
                    <a:lstStyle/>
                    <a:p>
                      <a:pPr algn="l" marL="0" indent="0" lvl="0">
                        <a:lnSpc>
                          <a:spcPts val="2659"/>
                        </a:lnSpc>
                        <a:spcBef>
                          <a:spcPct val="0"/>
                        </a:spcBef>
                        <a:defRPr/>
                      </a:pPr>
                      <a:r>
                        <a:rPr lang="en-US" b="true" sz="1899" strike="noStrike" u="none">
                          <a:solidFill>
                            <a:srgbClr val="000000"/>
                          </a:solidFill>
                          <a:latin typeface="Object Sans Bold"/>
                          <a:ea typeface="Object Sans Bold"/>
                          <a:cs typeface="Object Sans Bold"/>
                          <a:sym typeface="Object Sans Bold"/>
                        </a:rPr>
                        <a:t>P2P sharing marketplace</a:t>
                      </a:r>
                      <a:endParaRPr lang="en-US" sz="1100"/>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Not offered</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Core product</a:t>
                      </a:r>
                      <a:endParaRPr lang="en-US" sz="1100"/>
                    </a:p>
                    <a:p>
                      <a:pPr algn="l" marL="0" indent="0" lvl="0">
                        <a:lnSpc>
                          <a:spcPts val="2659"/>
                        </a:lnSpc>
                        <a:spcBef>
                          <a:spcPct val="0"/>
                        </a:spcBef>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r>
              <a:tr h="1143469">
                <a:tc>
                  <a:txBody>
                    <a:bodyPr anchor="t" rtlCol="false"/>
                    <a:lstStyle/>
                    <a:p>
                      <a:pPr algn="l" marL="0" indent="0" lvl="0">
                        <a:lnSpc>
                          <a:spcPts val="2659"/>
                        </a:lnSpc>
                        <a:spcBef>
                          <a:spcPct val="0"/>
                        </a:spcBef>
                        <a:defRPr/>
                      </a:pPr>
                      <a:r>
                        <a:rPr lang="en-US" b="true" sz="1899" strike="noStrike" u="none">
                          <a:solidFill>
                            <a:srgbClr val="000000"/>
                          </a:solidFill>
                          <a:latin typeface="Object Sans Bold"/>
                          <a:ea typeface="Object Sans Bold"/>
                          <a:cs typeface="Object Sans Bold"/>
                          <a:sym typeface="Object Sans Bold"/>
                        </a:rPr>
                        <a:t>AA framework access</a:t>
                      </a:r>
                      <a:endParaRPr lang="en-US" sz="1100"/>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l" marL="0" indent="0" lvl="0">
                        <a:lnSpc>
                          <a:spcPts val="2659"/>
                        </a:lnSpc>
                        <a:spcBef>
                          <a:spcPct val="0"/>
                        </a:spcBef>
                        <a:defRPr/>
                      </a:pPr>
                      <a:r>
                        <a:rPr lang="en-US" b="true" sz="1899" strike="noStrike" u="none">
                          <a:solidFill>
                            <a:srgbClr val="000000"/>
                          </a:solidFill>
                          <a:latin typeface="Object Sans Bold"/>
                          <a:ea typeface="Object Sans Bold"/>
                          <a:cs typeface="Object Sans Bold"/>
                          <a:sym typeface="Object Sans Bold"/>
                        </a:rPr>
                        <a:t>252.9M accounts, RBI-regulated</a:t>
                      </a:r>
                      <a:endParaRPr lang="en-US" sz="1100"/>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Not utilised</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r>
              <a:tr h="1143469">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Competitor framing</a:t>
                      </a:r>
                      <a:endParaRPr lang="en-US" sz="1100"/>
                    </a:p>
                    <a:p>
                      <a:pPr algn="l" marL="0" indent="0" lvl="0">
                        <a:lnSpc>
                          <a:spcPts val="2659"/>
                        </a:lnSpc>
                        <a:spcBef>
                          <a:spcPct val="0"/>
                        </a:spcBef>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Not named by Subspace</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c>
                  <a:txBody>
                    <a:bodyPr anchor="t" rtlCol="false"/>
                    <a:lstStyle/>
                    <a:p>
                      <a:pPr algn="l">
                        <a:lnSpc>
                          <a:spcPts val="2659"/>
                        </a:lnSpc>
                        <a:defRPr/>
                      </a:pPr>
                      <a:r>
                        <a:rPr lang="en-US" sz="1899" b="true">
                          <a:solidFill>
                            <a:srgbClr val="000000"/>
                          </a:solidFill>
                          <a:latin typeface="Object Sans Bold"/>
                          <a:ea typeface="Object Sans Bold"/>
                          <a:cs typeface="Object Sans Bold"/>
                          <a:sym typeface="Object Sans Bold"/>
                        </a:rPr>
                        <a:t>Should be named. Currently absent.</a:t>
                      </a:r>
                      <a:endParaRPr lang="en-US" sz="1100"/>
                    </a:p>
                    <a:p>
                      <a:pPr algn="l">
                        <a:lnSpc>
                          <a:spcPts val="2659"/>
                        </a:lnSpc>
                      </a:pPr>
                    </a:p>
                  </a:txBody>
                  <a:tcPr marL="190500" marR="190500" marT="190500" marB="190500" anchor="ctr">
                    <a:lnL cmpd="sng" algn="ctr" cap="flat" w="3810">
                      <a:solidFill>
                        <a:srgbClr val="292B2D"/>
                      </a:solidFill>
                      <a:prstDash val="solid"/>
                      <a:round/>
                      <a:headEnd type="none" w="med" len="med"/>
                      <a:tailEnd type="none" w="med" len="med"/>
                    </a:lnL>
                    <a:lnR cmpd="sng" algn="ctr" cap="flat" w="3810">
                      <a:solidFill>
                        <a:srgbClr val="292B2D"/>
                      </a:solidFill>
                      <a:prstDash val="solid"/>
                      <a:round/>
                      <a:headEnd type="none" w="med" len="med"/>
                      <a:tailEnd type="none" w="med" len="med"/>
                    </a:lnR>
                    <a:lnT cmpd="sng" algn="ctr" cap="flat" w="3810">
                      <a:solidFill>
                        <a:srgbClr val="292B2D"/>
                      </a:solidFill>
                      <a:prstDash val="solid"/>
                      <a:round/>
                      <a:headEnd type="none" w="med" len="med"/>
                      <a:tailEnd type="none" w="med" len="med"/>
                    </a:lnT>
                    <a:lnB cmpd="sng" algn="ctr" cap="flat" w="3810">
                      <a:solidFill>
                        <a:srgbClr val="292B2D"/>
                      </a:solidFill>
                      <a:prstDash val="solid"/>
                      <a:round/>
                      <a:headEnd type="none" w="med" len="med"/>
                      <a:tailEnd type="none" w="med" len="med"/>
                    </a:lnB>
                  </a:tcPr>
                </a:tc>
              </a:tr>
            </a:tbl>
          </a:graphicData>
        </a:graphic>
      </p:graphicFrame>
      <p:sp>
        <p:nvSpPr>
          <p:cNvPr name="TextBox 4" id="4"/>
          <p:cNvSpPr txBox="true"/>
          <p:nvPr/>
        </p:nvSpPr>
        <p:spPr>
          <a:xfrm rot="0">
            <a:off x="393945" y="314790"/>
            <a:ext cx="16323445" cy="593203"/>
          </a:xfrm>
          <a:prstGeom prst="rect">
            <a:avLst/>
          </a:prstGeom>
        </p:spPr>
        <p:txBody>
          <a:bodyPr anchor="t" rtlCol="false" tIns="0" lIns="0" bIns="0" rIns="0">
            <a:spAutoFit/>
          </a:bodyPr>
          <a:lstStyle/>
          <a:p>
            <a:pPr algn="l">
              <a:lnSpc>
                <a:spcPts val="4520"/>
              </a:lnSpc>
            </a:pPr>
            <a:r>
              <a:rPr lang="en-US" b="true" sz="3767" spc="-188">
                <a:solidFill>
                  <a:srgbClr val="292B2D"/>
                </a:solidFill>
                <a:latin typeface="Object Sans Bold"/>
                <a:ea typeface="Object Sans Bold"/>
                <a:cs typeface="Object Sans Bold"/>
                <a:sym typeface="Object Sans Bold"/>
              </a:rPr>
              <a:t>CRED MONEY VS SUBSPACE COMPETITIVE COMPARISON</a:t>
            </a:r>
          </a:p>
        </p:txBody>
      </p:sp>
    </p:spTree>
  </p:cSld>
  <p:clrMapOvr>
    <a:masterClrMapping/>
  </p:clrMapOvr>
  <p:transition spd="slow">
    <p:push dir="d"/>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grpSp>
        <p:nvGrpSpPr>
          <p:cNvPr name="Group 2" id="2"/>
          <p:cNvGrpSpPr/>
          <p:nvPr/>
        </p:nvGrpSpPr>
        <p:grpSpPr>
          <a:xfrm rot="0">
            <a:off x="1028700" y="2412868"/>
            <a:ext cx="11056294" cy="5461265"/>
            <a:chOff x="0" y="0"/>
            <a:chExt cx="3095911" cy="1529228"/>
          </a:xfrm>
        </p:grpSpPr>
        <p:sp>
          <p:nvSpPr>
            <p:cNvPr name="Freeform 3" id="3"/>
            <p:cNvSpPr/>
            <p:nvPr/>
          </p:nvSpPr>
          <p:spPr>
            <a:xfrm flipH="false" flipV="false" rot="0">
              <a:off x="0" y="0"/>
              <a:ext cx="3095911" cy="1529227"/>
            </a:xfrm>
            <a:custGeom>
              <a:avLst/>
              <a:gdLst/>
              <a:ahLst/>
              <a:cxnLst/>
              <a:rect r="r" b="b" t="t" l="l"/>
              <a:pathLst>
                <a:path h="1529227" w="3095911">
                  <a:moveTo>
                    <a:pt x="0" y="0"/>
                  </a:moveTo>
                  <a:lnTo>
                    <a:pt x="3095911" y="0"/>
                  </a:lnTo>
                  <a:lnTo>
                    <a:pt x="3095911" y="1529227"/>
                  </a:lnTo>
                  <a:lnTo>
                    <a:pt x="0" y="1529227"/>
                  </a:lnTo>
                  <a:close/>
                </a:path>
              </a:pathLst>
            </a:custGeom>
            <a:ln w="3810" cap="sq">
              <a:solidFill>
                <a:srgbClr val="292B2D"/>
              </a:solidFill>
              <a:prstDash val="solid"/>
              <a:miter/>
            </a:ln>
          </p:spPr>
        </p:sp>
        <p:sp>
          <p:nvSpPr>
            <p:cNvPr name="TextBox 4" id="4"/>
            <p:cNvSpPr txBox="true"/>
            <p:nvPr/>
          </p:nvSpPr>
          <p:spPr>
            <a:xfrm>
              <a:off x="0" y="-28575"/>
              <a:ext cx="3095911" cy="1557803"/>
            </a:xfrm>
            <a:prstGeom prst="rect">
              <a:avLst/>
            </a:prstGeom>
          </p:spPr>
          <p:txBody>
            <a:bodyPr anchor="ctr" rtlCol="false" tIns="59765" lIns="59765" bIns="59765" rIns="59765"/>
            <a:lstStyle/>
            <a:p>
              <a:pPr algn="ctr">
                <a:lnSpc>
                  <a:spcPts val="1960"/>
                </a:lnSpc>
              </a:pPr>
            </a:p>
          </p:txBody>
        </p:sp>
      </p:grpSp>
      <p:sp>
        <p:nvSpPr>
          <p:cNvPr name="Freeform 5" id="5"/>
          <p:cNvSpPr/>
          <p:nvPr/>
        </p:nvSpPr>
        <p:spPr>
          <a:xfrm flipH="false" flipV="false" rot="0">
            <a:off x="12300560" y="3685035"/>
            <a:ext cx="4968701" cy="3515865"/>
          </a:xfrm>
          <a:custGeom>
            <a:avLst/>
            <a:gdLst/>
            <a:ahLst/>
            <a:cxnLst/>
            <a:rect r="r" b="b" t="t" l="l"/>
            <a:pathLst>
              <a:path h="3515865" w="4968701">
                <a:moveTo>
                  <a:pt x="0" y="0"/>
                </a:moveTo>
                <a:lnTo>
                  <a:pt x="4968702" y="0"/>
                </a:lnTo>
                <a:lnTo>
                  <a:pt x="4968702" y="3515865"/>
                </a:lnTo>
                <a:lnTo>
                  <a:pt x="0" y="35158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1019175"/>
            <a:ext cx="9823181" cy="771525"/>
          </a:xfrm>
          <a:prstGeom prst="rect">
            <a:avLst/>
          </a:prstGeom>
        </p:spPr>
        <p:txBody>
          <a:bodyPr anchor="t" rtlCol="false" tIns="0" lIns="0" bIns="0" rIns="0">
            <a:spAutoFit/>
          </a:bodyPr>
          <a:lstStyle/>
          <a:p>
            <a:pPr algn="l">
              <a:lnSpc>
                <a:spcPts val="5999"/>
              </a:lnSpc>
            </a:pPr>
            <a:r>
              <a:rPr lang="en-US" b="true" sz="4999" spc="-249">
                <a:solidFill>
                  <a:srgbClr val="292B2D"/>
                </a:solidFill>
                <a:latin typeface="Object Sans Bold"/>
                <a:ea typeface="Object Sans Bold"/>
                <a:cs typeface="Object Sans Bold"/>
                <a:sym typeface="Object Sans Bold"/>
              </a:rPr>
              <a:t>COMMUNITY-LED GROWTH</a:t>
            </a:r>
          </a:p>
        </p:txBody>
      </p:sp>
      <p:sp>
        <p:nvSpPr>
          <p:cNvPr name="TextBox 7" id="7"/>
          <p:cNvSpPr txBox="true"/>
          <p:nvPr/>
        </p:nvSpPr>
        <p:spPr>
          <a:xfrm rot="0">
            <a:off x="1388706" y="3842769"/>
            <a:ext cx="10213223" cy="3666490"/>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292B2D"/>
                </a:solidFill>
                <a:latin typeface="Object Sans"/>
                <a:ea typeface="Object Sans"/>
                <a:cs typeface="Object Sans"/>
                <a:sym typeface="Object Sans"/>
              </a:rPr>
              <a:t>Current acquisition efforts rely heavily on coupon-focused SEO content. While this approach generates traffic, it often attracts users seeking short-term discounts rather than long-term engagement.</a:t>
            </a:r>
          </a:p>
          <a:p>
            <a:pPr algn="l" marL="410209" indent="-205105" lvl="1">
              <a:lnSpc>
                <a:spcPts val="2659"/>
              </a:lnSpc>
              <a:buFont typeface="Arial"/>
              <a:buChar char="•"/>
            </a:pPr>
            <a:r>
              <a:rPr lang="en-US" sz="1899">
                <a:solidFill>
                  <a:srgbClr val="292B2D"/>
                </a:solidFill>
                <a:latin typeface="Object Sans"/>
                <a:ea typeface="Object Sans"/>
                <a:cs typeface="Object Sans"/>
                <a:sym typeface="Object Sans"/>
              </a:rPr>
              <a:t>The abse</a:t>
            </a:r>
            <a:r>
              <a:rPr lang="en-US" sz="1899">
                <a:solidFill>
                  <a:srgbClr val="292B2D"/>
                </a:solidFill>
                <a:latin typeface="Object Sans"/>
                <a:ea typeface="Object Sans"/>
                <a:cs typeface="Object Sans"/>
                <a:sym typeface="Object Sans"/>
              </a:rPr>
              <a:t>nce of meaningful participation in communities such as Reddit, Telegram, and Discord represents a missed opportunity. These communities already contain highly engaged users who actively discuss subscriptions, streaming services, and digital savings.</a:t>
            </a:r>
          </a:p>
          <a:p>
            <a:pPr algn="l" marL="410209" indent="-205105" lvl="1">
              <a:lnSpc>
                <a:spcPts val="2659"/>
              </a:lnSpc>
              <a:buFont typeface="Arial"/>
              <a:buChar char="•"/>
            </a:pPr>
            <a:r>
              <a:rPr lang="en-US" sz="1899">
                <a:solidFill>
                  <a:srgbClr val="292B2D"/>
                </a:solidFill>
                <a:latin typeface="Object Sans"/>
                <a:ea typeface="Object Sans"/>
                <a:cs typeface="Object Sans"/>
                <a:sym typeface="Object Sans"/>
              </a:rPr>
              <a:t>B</a:t>
            </a:r>
            <a:r>
              <a:rPr lang="en-US" sz="1899">
                <a:solidFill>
                  <a:srgbClr val="292B2D"/>
                </a:solidFill>
                <a:latin typeface="Object Sans"/>
                <a:ea typeface="Object Sans"/>
                <a:cs typeface="Object Sans"/>
                <a:sym typeface="Object Sans"/>
              </a:rPr>
              <a:t>uilding partnerships with relevant communities and creating valuable educational content could increase trust, improve retention, and reduce customer acquisition costs over time.</a:t>
            </a:r>
          </a:p>
          <a:p>
            <a:pPr algn="l">
              <a:lnSpc>
                <a:spcPts val="2659"/>
              </a:lnSpc>
            </a:pPr>
          </a:p>
        </p:txBody>
      </p:sp>
      <p:sp>
        <p:nvSpPr>
          <p:cNvPr name="TextBox 8" id="8"/>
          <p:cNvSpPr txBox="true"/>
          <p:nvPr/>
        </p:nvSpPr>
        <p:spPr>
          <a:xfrm rot="0">
            <a:off x="1388706" y="3013523"/>
            <a:ext cx="8289322" cy="1343025"/>
          </a:xfrm>
          <a:prstGeom prst="rect">
            <a:avLst/>
          </a:prstGeom>
        </p:spPr>
        <p:txBody>
          <a:bodyPr anchor="t" rtlCol="false" tIns="0" lIns="0" bIns="0" rIns="0">
            <a:spAutoFit/>
          </a:bodyPr>
          <a:lstStyle/>
          <a:p>
            <a:pPr algn="l">
              <a:lnSpc>
                <a:spcPts val="3599"/>
              </a:lnSpc>
            </a:pPr>
            <a:r>
              <a:rPr lang="en-US" sz="2999" b="true">
                <a:solidFill>
                  <a:srgbClr val="292B2D"/>
                </a:solidFill>
                <a:latin typeface="Object Sans Bold"/>
                <a:ea typeface="Object Sans Bold"/>
                <a:cs typeface="Object Sans Bold"/>
                <a:sym typeface="Object Sans Bold"/>
              </a:rPr>
              <a:t>Beyond Coupon-Based Acquisition</a:t>
            </a:r>
          </a:p>
          <a:p>
            <a:pPr algn="l">
              <a:lnSpc>
                <a:spcPts val="3599"/>
              </a:lnSpc>
            </a:pPr>
          </a:p>
          <a:p>
            <a:pPr algn="l">
              <a:lnSpc>
                <a:spcPts val="3599"/>
              </a:lnSpc>
            </a:pPr>
          </a:p>
        </p:txBody>
      </p:sp>
    </p:spTree>
  </p:cSld>
  <p:clrMapOvr>
    <a:masterClrMapping/>
  </p:clrMapOvr>
  <p:transition spd="slow">
    <p:push dir="d"/>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grpSp>
        <p:nvGrpSpPr>
          <p:cNvPr name="Group 2" id="2"/>
          <p:cNvGrpSpPr/>
          <p:nvPr/>
        </p:nvGrpSpPr>
        <p:grpSpPr>
          <a:xfrm rot="0">
            <a:off x="9552770" y="1409700"/>
            <a:ext cx="7706530" cy="1604882"/>
            <a:chOff x="0" y="0"/>
            <a:chExt cx="1944176" cy="404874"/>
          </a:xfrm>
        </p:grpSpPr>
        <p:sp>
          <p:nvSpPr>
            <p:cNvPr name="Freeform 3" id="3"/>
            <p:cNvSpPr/>
            <p:nvPr/>
          </p:nvSpPr>
          <p:spPr>
            <a:xfrm flipH="false" flipV="false" rot="0">
              <a:off x="0" y="0"/>
              <a:ext cx="1944176" cy="404874"/>
            </a:xfrm>
            <a:custGeom>
              <a:avLst/>
              <a:gdLst/>
              <a:ahLst/>
              <a:cxnLst/>
              <a:rect r="r" b="b" t="t" l="l"/>
              <a:pathLst>
                <a:path h="404874" w="1944176">
                  <a:moveTo>
                    <a:pt x="0" y="0"/>
                  </a:moveTo>
                  <a:lnTo>
                    <a:pt x="1944176" y="0"/>
                  </a:lnTo>
                  <a:lnTo>
                    <a:pt x="1944176" y="404874"/>
                  </a:lnTo>
                  <a:lnTo>
                    <a:pt x="0" y="404874"/>
                  </a:lnTo>
                  <a:close/>
                </a:path>
              </a:pathLst>
            </a:custGeom>
            <a:solidFill>
              <a:srgbClr val="292B2D"/>
            </a:solidFill>
          </p:spPr>
        </p:sp>
        <p:sp>
          <p:nvSpPr>
            <p:cNvPr name="TextBox 4" id="4"/>
            <p:cNvSpPr txBox="true"/>
            <p:nvPr/>
          </p:nvSpPr>
          <p:spPr>
            <a:xfrm>
              <a:off x="0" y="-66675"/>
              <a:ext cx="1944176" cy="471549"/>
            </a:xfrm>
            <a:prstGeom prst="rect">
              <a:avLst/>
            </a:prstGeom>
          </p:spPr>
          <p:txBody>
            <a:bodyPr anchor="ctr" rtlCol="false" tIns="50800" lIns="50800" bIns="50800" rIns="50800"/>
            <a:lstStyle/>
            <a:p>
              <a:pPr algn="ctr">
                <a:lnSpc>
                  <a:spcPts val="3920"/>
                </a:lnSpc>
              </a:pPr>
            </a:p>
          </p:txBody>
        </p:sp>
      </p:grpSp>
      <p:grpSp>
        <p:nvGrpSpPr>
          <p:cNvPr name="Group 5" id="5"/>
          <p:cNvGrpSpPr/>
          <p:nvPr/>
        </p:nvGrpSpPr>
        <p:grpSpPr>
          <a:xfrm rot="0">
            <a:off x="9552770" y="4050864"/>
            <a:ext cx="7706530" cy="1604882"/>
            <a:chOff x="0" y="0"/>
            <a:chExt cx="1944176" cy="404874"/>
          </a:xfrm>
        </p:grpSpPr>
        <p:sp>
          <p:nvSpPr>
            <p:cNvPr name="Freeform 6" id="6"/>
            <p:cNvSpPr/>
            <p:nvPr/>
          </p:nvSpPr>
          <p:spPr>
            <a:xfrm flipH="false" flipV="false" rot="0">
              <a:off x="0" y="0"/>
              <a:ext cx="1944176" cy="404874"/>
            </a:xfrm>
            <a:custGeom>
              <a:avLst/>
              <a:gdLst/>
              <a:ahLst/>
              <a:cxnLst/>
              <a:rect r="r" b="b" t="t" l="l"/>
              <a:pathLst>
                <a:path h="404874" w="1944176">
                  <a:moveTo>
                    <a:pt x="0" y="0"/>
                  </a:moveTo>
                  <a:lnTo>
                    <a:pt x="1944176" y="0"/>
                  </a:lnTo>
                  <a:lnTo>
                    <a:pt x="1944176" y="404874"/>
                  </a:lnTo>
                  <a:lnTo>
                    <a:pt x="0" y="404874"/>
                  </a:lnTo>
                  <a:close/>
                </a:path>
              </a:pathLst>
            </a:custGeom>
            <a:solidFill>
              <a:srgbClr val="292B2D"/>
            </a:solidFill>
          </p:spPr>
        </p:sp>
        <p:sp>
          <p:nvSpPr>
            <p:cNvPr name="TextBox 7" id="7"/>
            <p:cNvSpPr txBox="true"/>
            <p:nvPr/>
          </p:nvSpPr>
          <p:spPr>
            <a:xfrm>
              <a:off x="0" y="-66675"/>
              <a:ext cx="1944176" cy="471549"/>
            </a:xfrm>
            <a:prstGeom prst="rect">
              <a:avLst/>
            </a:prstGeom>
          </p:spPr>
          <p:txBody>
            <a:bodyPr anchor="ctr" rtlCol="false" tIns="50800" lIns="50800" bIns="50800" rIns="50800"/>
            <a:lstStyle/>
            <a:p>
              <a:pPr algn="ctr">
                <a:lnSpc>
                  <a:spcPts val="3920"/>
                </a:lnSpc>
              </a:pPr>
            </a:p>
          </p:txBody>
        </p:sp>
      </p:grpSp>
      <p:grpSp>
        <p:nvGrpSpPr>
          <p:cNvPr name="Group 8" id="8"/>
          <p:cNvGrpSpPr/>
          <p:nvPr/>
        </p:nvGrpSpPr>
        <p:grpSpPr>
          <a:xfrm rot="0">
            <a:off x="9552770" y="6693336"/>
            <a:ext cx="7706530" cy="1604882"/>
            <a:chOff x="0" y="0"/>
            <a:chExt cx="1944176" cy="404874"/>
          </a:xfrm>
        </p:grpSpPr>
        <p:sp>
          <p:nvSpPr>
            <p:cNvPr name="Freeform 9" id="9"/>
            <p:cNvSpPr/>
            <p:nvPr/>
          </p:nvSpPr>
          <p:spPr>
            <a:xfrm flipH="false" flipV="false" rot="0">
              <a:off x="0" y="0"/>
              <a:ext cx="1944176" cy="404874"/>
            </a:xfrm>
            <a:custGeom>
              <a:avLst/>
              <a:gdLst/>
              <a:ahLst/>
              <a:cxnLst/>
              <a:rect r="r" b="b" t="t" l="l"/>
              <a:pathLst>
                <a:path h="404874" w="1944176">
                  <a:moveTo>
                    <a:pt x="0" y="0"/>
                  </a:moveTo>
                  <a:lnTo>
                    <a:pt x="1944176" y="0"/>
                  </a:lnTo>
                  <a:lnTo>
                    <a:pt x="1944176" y="404874"/>
                  </a:lnTo>
                  <a:lnTo>
                    <a:pt x="0" y="404874"/>
                  </a:lnTo>
                  <a:close/>
                </a:path>
              </a:pathLst>
            </a:custGeom>
            <a:solidFill>
              <a:srgbClr val="292B2D"/>
            </a:solidFill>
          </p:spPr>
        </p:sp>
        <p:sp>
          <p:nvSpPr>
            <p:cNvPr name="TextBox 10" id="10"/>
            <p:cNvSpPr txBox="true"/>
            <p:nvPr/>
          </p:nvSpPr>
          <p:spPr>
            <a:xfrm>
              <a:off x="0" y="-66675"/>
              <a:ext cx="1944176" cy="471549"/>
            </a:xfrm>
            <a:prstGeom prst="rect">
              <a:avLst/>
            </a:prstGeom>
          </p:spPr>
          <p:txBody>
            <a:bodyPr anchor="ctr" rtlCol="false" tIns="50800" lIns="50800" bIns="50800" rIns="50800"/>
            <a:lstStyle/>
            <a:p>
              <a:pPr algn="ctr">
                <a:lnSpc>
                  <a:spcPts val="3920"/>
                </a:lnSpc>
              </a:pPr>
            </a:p>
          </p:txBody>
        </p:sp>
      </p:grpSp>
      <p:sp>
        <p:nvSpPr>
          <p:cNvPr name="Freeform 11" id="11"/>
          <p:cNvSpPr/>
          <p:nvPr/>
        </p:nvSpPr>
        <p:spPr>
          <a:xfrm flipH="false" flipV="false" rot="0">
            <a:off x="547659" y="4853305"/>
            <a:ext cx="5329544" cy="5874247"/>
          </a:xfrm>
          <a:custGeom>
            <a:avLst/>
            <a:gdLst/>
            <a:ahLst/>
            <a:cxnLst/>
            <a:rect r="r" b="b" t="t" l="l"/>
            <a:pathLst>
              <a:path h="5874247" w="5329544">
                <a:moveTo>
                  <a:pt x="0" y="0"/>
                </a:moveTo>
                <a:lnTo>
                  <a:pt x="5329544" y="0"/>
                </a:lnTo>
                <a:lnTo>
                  <a:pt x="5329544" y="5874247"/>
                </a:lnTo>
                <a:lnTo>
                  <a:pt x="0" y="58742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028700" y="1019175"/>
            <a:ext cx="6943415" cy="1533525"/>
          </a:xfrm>
          <a:prstGeom prst="rect">
            <a:avLst/>
          </a:prstGeom>
        </p:spPr>
        <p:txBody>
          <a:bodyPr anchor="t" rtlCol="false" tIns="0" lIns="0" bIns="0" rIns="0">
            <a:spAutoFit/>
          </a:bodyPr>
          <a:lstStyle/>
          <a:p>
            <a:pPr algn="l">
              <a:lnSpc>
                <a:spcPts val="5999"/>
              </a:lnSpc>
            </a:pPr>
            <a:r>
              <a:rPr lang="en-US" b="true" sz="4999" spc="-249">
                <a:solidFill>
                  <a:srgbClr val="292B2D"/>
                </a:solidFill>
                <a:latin typeface="Object Sans Bold"/>
                <a:ea typeface="Object Sans Bold"/>
                <a:cs typeface="Object Sans Bold"/>
                <a:sym typeface="Object Sans Bold"/>
              </a:rPr>
              <a:t>STRATEGIC PRIORITIES</a:t>
            </a:r>
          </a:p>
        </p:txBody>
      </p:sp>
      <p:sp>
        <p:nvSpPr>
          <p:cNvPr name="TextBox 13" id="13"/>
          <p:cNvSpPr txBox="true"/>
          <p:nvPr/>
        </p:nvSpPr>
        <p:spPr>
          <a:xfrm rot="0">
            <a:off x="9786434" y="1516816"/>
            <a:ext cx="7239201" cy="1381125"/>
          </a:xfrm>
          <a:prstGeom prst="rect">
            <a:avLst/>
          </a:prstGeom>
        </p:spPr>
        <p:txBody>
          <a:bodyPr anchor="t" rtlCol="false" tIns="0" lIns="0" bIns="0" rIns="0">
            <a:spAutoFit/>
          </a:bodyPr>
          <a:lstStyle/>
          <a:p>
            <a:pPr algn="l">
              <a:lnSpc>
                <a:spcPts val="3600"/>
              </a:lnSpc>
            </a:pPr>
            <a:r>
              <a:rPr lang="en-US" sz="3000" b="true">
                <a:solidFill>
                  <a:srgbClr val="F6F4F1"/>
                </a:solidFill>
                <a:latin typeface="Object Sans Bold"/>
                <a:ea typeface="Object Sans Bold"/>
                <a:cs typeface="Object Sans Bold"/>
                <a:sym typeface="Object Sans Bold"/>
              </a:rPr>
              <a:t>Reposition the product against CRED Money and focus on savings rather than tracking.</a:t>
            </a:r>
          </a:p>
        </p:txBody>
      </p:sp>
      <p:sp>
        <p:nvSpPr>
          <p:cNvPr name="TextBox 14" id="14"/>
          <p:cNvSpPr txBox="true"/>
          <p:nvPr/>
        </p:nvSpPr>
        <p:spPr>
          <a:xfrm rot="0">
            <a:off x="9897005" y="4386580"/>
            <a:ext cx="7083101" cy="923925"/>
          </a:xfrm>
          <a:prstGeom prst="rect">
            <a:avLst/>
          </a:prstGeom>
        </p:spPr>
        <p:txBody>
          <a:bodyPr anchor="t" rtlCol="false" tIns="0" lIns="0" bIns="0" rIns="0">
            <a:spAutoFit/>
          </a:bodyPr>
          <a:lstStyle/>
          <a:p>
            <a:pPr algn="l">
              <a:lnSpc>
                <a:spcPts val="3600"/>
              </a:lnSpc>
            </a:pPr>
            <a:r>
              <a:rPr lang="en-US" sz="3000" b="true">
                <a:solidFill>
                  <a:srgbClr val="F6F4F1"/>
                </a:solidFill>
                <a:latin typeface="Object Sans Bold"/>
                <a:ea typeface="Object Sans Bold"/>
                <a:cs typeface="Object Sans Bold"/>
                <a:sym typeface="Object Sans Bold"/>
              </a:rPr>
              <a:t>Improve transparency across subscription-sharing models.</a:t>
            </a:r>
          </a:p>
        </p:txBody>
      </p:sp>
      <p:sp>
        <p:nvSpPr>
          <p:cNvPr name="TextBox 15" id="15"/>
          <p:cNvSpPr txBox="true"/>
          <p:nvPr/>
        </p:nvSpPr>
        <p:spPr>
          <a:xfrm rot="0">
            <a:off x="9897005" y="7029052"/>
            <a:ext cx="7083101" cy="923925"/>
          </a:xfrm>
          <a:prstGeom prst="rect">
            <a:avLst/>
          </a:prstGeom>
        </p:spPr>
        <p:txBody>
          <a:bodyPr anchor="t" rtlCol="false" tIns="0" lIns="0" bIns="0" rIns="0">
            <a:spAutoFit/>
          </a:bodyPr>
          <a:lstStyle/>
          <a:p>
            <a:pPr algn="l">
              <a:lnSpc>
                <a:spcPts val="3600"/>
              </a:lnSpc>
            </a:pPr>
            <a:r>
              <a:rPr lang="en-US" sz="3000" b="true">
                <a:solidFill>
                  <a:srgbClr val="F6F4F1"/>
                </a:solidFill>
                <a:latin typeface="Object Sans Bold"/>
                <a:ea typeface="Object Sans Bold"/>
                <a:cs typeface="Object Sans Bold"/>
                <a:sym typeface="Object Sans Bold"/>
              </a:rPr>
              <a:t>Transform the Negotiate API into a proactive, automated experience.</a:t>
            </a:r>
          </a:p>
        </p:txBody>
      </p:sp>
    </p:spTree>
  </p:cSld>
  <p:clrMapOvr>
    <a:masterClrMapping/>
  </p:clrMapOvr>
  <p:transition spd="slow">
    <p:push dir="d"/>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5650918" cy="4584163"/>
          </a:xfrm>
          <a:custGeom>
            <a:avLst/>
            <a:gdLst/>
            <a:ahLst/>
            <a:cxnLst/>
            <a:rect r="r" b="b" t="t" l="l"/>
            <a:pathLst>
              <a:path h="4584163" w="5650918">
                <a:moveTo>
                  <a:pt x="0" y="0"/>
                </a:moveTo>
                <a:lnTo>
                  <a:pt x="5650918" y="0"/>
                </a:lnTo>
                <a:lnTo>
                  <a:pt x="5650918" y="4584163"/>
                </a:lnTo>
                <a:lnTo>
                  <a:pt x="0" y="45841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05351" y="5438775"/>
            <a:ext cx="9663363" cy="862714"/>
          </a:xfrm>
          <a:prstGeom prst="rect">
            <a:avLst/>
          </a:prstGeom>
        </p:spPr>
        <p:txBody>
          <a:bodyPr anchor="t" rtlCol="false" tIns="0" lIns="0" bIns="0" rIns="0">
            <a:spAutoFit/>
          </a:bodyPr>
          <a:lstStyle/>
          <a:p>
            <a:pPr algn="l">
              <a:lnSpc>
                <a:spcPts val="5852"/>
              </a:lnSpc>
            </a:pPr>
            <a:r>
              <a:rPr lang="en-US" sz="7600" spc="-608">
                <a:solidFill>
                  <a:srgbClr val="292B2D"/>
                </a:solidFill>
                <a:latin typeface="Object Sans"/>
                <a:ea typeface="Object Sans"/>
                <a:cs typeface="Object Sans"/>
                <a:sym typeface="Object Sans"/>
              </a:rPr>
              <a:t>CONCLUSION</a:t>
            </a:r>
          </a:p>
        </p:txBody>
      </p:sp>
      <p:sp>
        <p:nvSpPr>
          <p:cNvPr name="TextBox 4" id="4"/>
          <p:cNvSpPr txBox="true"/>
          <p:nvPr/>
        </p:nvSpPr>
        <p:spPr>
          <a:xfrm rot="0">
            <a:off x="12408760" y="1028700"/>
            <a:ext cx="5622983" cy="533400"/>
          </a:xfrm>
          <a:prstGeom prst="rect">
            <a:avLst/>
          </a:prstGeom>
        </p:spPr>
        <p:txBody>
          <a:bodyPr anchor="t" rtlCol="false" tIns="0" lIns="0" bIns="0" rIns="0">
            <a:spAutoFit/>
          </a:bodyPr>
          <a:lstStyle/>
          <a:p>
            <a:pPr algn="just">
              <a:lnSpc>
                <a:spcPts val="2160"/>
              </a:lnSpc>
            </a:pPr>
            <a:r>
              <a:rPr lang="en-US" sz="1800">
                <a:solidFill>
                  <a:srgbClr val="292B2D"/>
                </a:solidFill>
                <a:latin typeface="Object Sans"/>
                <a:ea typeface="Object Sans"/>
                <a:cs typeface="Object Sans"/>
                <a:sym typeface="Object Sans"/>
              </a:rPr>
              <a:t>Mobile Number: </a:t>
            </a:r>
            <a:r>
              <a:rPr lang="en-US" sz="1800" b="true">
                <a:solidFill>
                  <a:srgbClr val="292B2D"/>
                </a:solidFill>
                <a:latin typeface="Object Sans Bold"/>
                <a:ea typeface="Object Sans Bold"/>
                <a:cs typeface="Object Sans Bold"/>
                <a:sym typeface="Object Sans Bold"/>
              </a:rPr>
              <a:t>+91 7900223148</a:t>
            </a:r>
          </a:p>
          <a:p>
            <a:pPr algn="just">
              <a:lnSpc>
                <a:spcPts val="2160"/>
              </a:lnSpc>
            </a:pPr>
            <a:r>
              <a:rPr lang="en-US" sz="1800">
                <a:solidFill>
                  <a:srgbClr val="292B2D"/>
                </a:solidFill>
                <a:latin typeface="Object Sans"/>
                <a:ea typeface="Object Sans"/>
                <a:cs typeface="Object Sans"/>
                <a:sym typeface="Object Sans"/>
              </a:rPr>
              <a:t>E</a:t>
            </a:r>
            <a:r>
              <a:rPr lang="en-US" sz="1800">
                <a:solidFill>
                  <a:srgbClr val="292B2D"/>
                </a:solidFill>
                <a:latin typeface="Object Sans"/>
                <a:ea typeface="Object Sans"/>
                <a:cs typeface="Object Sans"/>
                <a:sym typeface="Object Sans"/>
              </a:rPr>
              <a:t>mail Address: divyam.21.pathak@gmail.com</a:t>
            </a:r>
          </a:p>
        </p:txBody>
      </p:sp>
      <p:sp>
        <p:nvSpPr>
          <p:cNvPr name="TextBox 5" id="5"/>
          <p:cNvSpPr txBox="true"/>
          <p:nvPr/>
        </p:nvSpPr>
        <p:spPr>
          <a:xfrm rot="0">
            <a:off x="705351" y="6723390"/>
            <a:ext cx="14668477" cy="2752725"/>
          </a:xfrm>
          <a:prstGeom prst="rect">
            <a:avLst/>
          </a:prstGeom>
        </p:spPr>
        <p:txBody>
          <a:bodyPr anchor="t" rtlCol="false" tIns="0" lIns="0" bIns="0" rIns="0">
            <a:spAutoFit/>
          </a:bodyPr>
          <a:lstStyle/>
          <a:p>
            <a:pPr algn="just">
              <a:lnSpc>
                <a:spcPts val="2467"/>
              </a:lnSpc>
            </a:pPr>
            <a:r>
              <a:rPr lang="en-US" sz="2056" b="true">
                <a:solidFill>
                  <a:srgbClr val="292B2D"/>
                </a:solidFill>
                <a:latin typeface="Object Sans Bold"/>
                <a:ea typeface="Object Sans Bold"/>
                <a:cs typeface="Object Sans Bold"/>
                <a:sym typeface="Object Sans Bold"/>
              </a:rPr>
              <a:t>Subspace.money has built a strong foundation within the subscription economy through its combination of subscription management, sharing, and rental services. The company has demonstrated impressive operational efficiency and revenue growth while remaining bootstrapped.</a:t>
            </a:r>
          </a:p>
          <a:p>
            <a:pPr algn="just">
              <a:lnSpc>
                <a:spcPts val="2467"/>
              </a:lnSpc>
            </a:pPr>
          </a:p>
          <a:p>
            <a:pPr algn="just">
              <a:lnSpc>
                <a:spcPts val="2467"/>
              </a:lnSpc>
            </a:pPr>
            <a:r>
              <a:rPr lang="en-US" sz="2056" b="true">
                <a:solidFill>
                  <a:srgbClr val="292B2D"/>
                </a:solidFill>
                <a:latin typeface="Object Sans Bold"/>
                <a:ea typeface="Object Sans Bold"/>
                <a:cs typeface="Object Sans Bold"/>
                <a:sym typeface="Object Sans Bold"/>
              </a:rPr>
              <a:t>Future success will depend on strengthening differentiation, improving customer trust, automating savings experiences, and building sustainable acquisition channels. By addressing these opportunities, Subspace can reinforce its competitive position and unlock the next phase of growth.</a:t>
            </a:r>
          </a:p>
          <a:p>
            <a:pPr algn="just">
              <a:lnSpc>
                <a:spcPts val="2467"/>
              </a:lnSpc>
            </a:pPr>
          </a:p>
          <a:p>
            <a:pPr algn="just">
              <a:lnSpc>
                <a:spcPts val="2467"/>
              </a:lnSpc>
            </a:pPr>
          </a:p>
        </p:txBody>
      </p:sp>
    </p:spTree>
  </p:cSld>
  <p:clrMapOvr>
    <a:masterClrMapping/>
  </p:clrMapOvr>
  <p:transition spd="slow">
    <p:push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DAHLN5m86Xk</dc:identifier>
  <dcterms:modified xsi:type="dcterms:W3CDTF">2011-08-01T06:04:30Z</dcterms:modified>
  <cp:revision>1</cp:revision>
  <dc:title>Ash Grey and Black Modern Professional Brand Research Presentation</dc:title>
</cp:coreProperties>
</file>